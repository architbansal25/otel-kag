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5238476" cy="7973568"/>
  <p:notesSz cx="7973568" cy="1523847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 min discussion (slides 1-8) | 25 min demo (slide 9) | wrap (10-12).
Open with the thesis, not the agenda.
"Every one of us has spent hours in the wrong service during an incident. Today I want to show you why that keeps happening — and a technique that fixes the specific reason it happens."
Do not read the subtitle aloud.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Put the QR up early so people can scan while you talk — do not save it for the end, half the room will have left.
TO FINISH THIS SLIDE: generate a QR for your repo URL, paste the image over the dashed box, then delete the dashed box and the 'QR code goes here' text.
Say: "Everything you are about to see is in here — the services, the engine, and the runbook. You can re-run this whole session on your own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Do not read all seven lines aloud — point at the shape of it.
Two things worth saying: the demo sits in the MIDDLE, not at the end, so there is time to explain how it works afterwards; and the last section is limitations, which is deliberate.
Flag the interaction model now: "stop me during the demo — that part is meant to be interrupted."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Tell it in the second person — the room has lived this.
Land beat 4 and PAUSE: "the thing that broke never wrote a log line." That is the hinge of the entire talk.
Optional show of hands: 'who has spent more than an hour in the wrong service during an incident?' Every hand goes up.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Three distinct reasons log-based RCA fails — say all three:
1. SILENCE — config and capacity do not log. Nothing to retrieve.
2. MISATTRIBUTION — the service that TIMES OUT logs the error; the service that is SLOW returns 200 and logs nothing.
3. NO STRUCTURE — 'A is slow' and 'queue B is backed up' are two strings. Only a graph knows they share a dependency two hops away.
Point at the 0. That number is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The conceptual pivot.
KAG = Knowledge Augmented Generation. Be straight that this implements the IDEA — explicit graph, structured retrieval, LLM reasoning over the retrieved subgraph — rather than the OpenSPG SDK. If asked why: the SDK needs a config server, an embeddings provider and a vector store, and it hides the exact mechanism I am here to show.
Distinguish the three if asked: RAG retrieves text chunks by similarity. GraphRAG builds a graph FROM text and is still bounded by that text. KAG traverses typed entities that were never text in the first place.
If you are running long, this is the slide to compress. Never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You have just told them WHAT to build; this is what it is built ON. It also sets up the demo — they need to read a trace to follow it.
Three things to land:
1. SPAN = one unit of work; TRACE = a tree of them sharing a trace id.
2. CONTEXT PROPAGATION is the magic — W3C traceparent over HTTP, message properties over JMS. That is why the async hop stays in one trace.
3. ZERO instrumentation code. The Java agent is attached with -javaagent and instruments Spring MVC, JDBC, the HTTP client and JMS automatically. People assume otherwise — say it explicitly.
Detail worth having ready: the agent emits SEVERAL spans per request. That matters later — error rate per span is not error rate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This is the last slide before the demo — it states precisely what the graph has to supply and the demo then supplies it.
The move: everything on the left is a measurement. Everything on the right is a RELATIONSHIP. Dashboards are very good at the left column and have no representation at all of the right one.
Good line: "We have spent a decade getting very good at collecting WHAT. We have not built the thing that answers WHY."
If someone raises Dynatrace/Datadog here — acknowledge they have service maps and change correlation; the difference is config and deployments as first-class nodes plus an inspectable ranking. Do not trash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STOP — switch to the console at http://localhost:8090. Budget 25 min.
Derive the fault live, it beats stating it:
  Capacity = pool size / hold time
  Before: 20 / 0.15s = ~133 req/sec. Fine.
  After:   2 / 0.15s = ~13 req/sec. Everything queues.
The timeout asymmetry is the key detail and it is NOT contrived: order-api gives up at 2s, the pool at 3s. The caller fails before the callee admits it is struggling. Callers with shorter timeouts than the callee is the most common timeout misconfiguration in real systems.
Order matters: BASELINE first, then KAG. Say: "Same Jaeger. Same window. Same model. The only difference is the graph."
If asked whether it is hardcoded: click Reset to healthy and run it — it says 'no symptoms detected'. That one click ends the question.
FALLBACK: if the model call fails, the console still shows the retrieval trace and the exact prompt. The retrieval IS the argument — you can deliver the whole demo without a successful LLM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after the demo. Two things to land:
1. Retrieval starts at the SYMPTOM and walks causality BACKWARDS. It never asks 'what looks broken?', only 'what could have produced exactly this?'
2. blast vs mechanism. Topology says what COULD cause the symptoms; evidence says what DID.
Best 'we actually engineered this' detail if you have time: the Deployment → Service edge is deliberately NOT causal. A deploy does not break a service by magic; it breaks it through what it changed. Leaving it causal gave every deploy a one-hop shortcut past the evidence and they all scored identically.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Lead with the limitations — in a room of engineers that is what buys you the rest.
Say 'no' plainly to the big two: it is NOT production ready, and it does NOT replace engineers. It shortens the search; a human decides and acts.
Cost framing that lands with managers: cost scales with INCIDENTS, not telemetry volume — the opposite of most observability pricing.
If asked for MTTR numbers, do not invent one: "I'd want to measure it against your own incident history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 to be customised. Add your name, contact and the repo QR here.
Do not end on 'any questions?' in silence. Seed the first one yourself: "The question I get most is whether this replaces engineers — it does not, it shortens the search." That gives the room permission to start.
Keep the console open behind this slide in case someone wants to see something re-run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50392" y="2194560"/>
            <a:ext cx="7653528" cy="557784"/>
          </a:xfrm>
          <a:prstGeom prst="rect">
            <a:avLst/>
          </a:prstGeom>
          <a:noFill/>
          <a:ln/>
        </p:spPr>
        <p:txBody>
          <a:bodyPr wrap="square" lIns="0" tIns="0" rIns="0" bIns="0" rtlCol="0" anchor="ctr"/>
          <a:lstStyle/>
          <a:p>
            <a:pPr indent="0" marL="0">
              <a:buNone/>
            </a:pPr>
            <a:r>
              <a:rPr lang="en-US" sz="2600" dirty="0">
                <a:solidFill>
                  <a:srgbClr val="47D7AC"/>
                </a:solidFill>
                <a:latin typeface="Equip Extended Medium" pitchFamily="34" charset="0"/>
                <a:ea typeface="Equip Extended Medium" pitchFamily="34" charset="-122"/>
                <a:cs typeface="Equip Extended Medium" pitchFamily="34" charset="-120"/>
              </a:rPr>
              <a:t>Flo 2026</a:t>
            </a:r>
            <a:endParaRPr lang="en-US" sz="2600" dirty="0"/>
          </a:p>
        </p:txBody>
      </p:sp>
      <p:sp>
        <p:nvSpPr>
          <p:cNvPr id="5" name="Text 1"/>
          <p:cNvSpPr txBox="1"/>
          <p:nvPr/>
        </p:nvSpPr>
        <p:spPr>
          <a:xfrm>
            <a:off x="822960" y="2752344"/>
            <a:ext cx="11420856" cy="1234440"/>
          </a:xfrm>
          <a:prstGeom prst="rect">
            <a:avLst/>
          </a:prstGeom>
          <a:noFill/>
          <a:ln/>
        </p:spPr>
        <p:txBody>
          <a:bodyPr wrap="square" lIns="0" tIns="0" rIns="0" bIns="0" rtlCol="0" anchor="ctr"/>
          <a:lstStyle/>
          <a:p>
            <a:pPr indent="0" marL="0">
              <a:buNone/>
            </a:pPr>
            <a:r>
              <a:rPr lang="en-US" sz="5200" dirty="0">
                <a:solidFill>
                  <a:srgbClr val="FFFFFF"/>
                </a:solidFill>
                <a:latin typeface="Equip Extended Medium" pitchFamily="34" charset="0"/>
                <a:ea typeface="Equip Extended Medium" pitchFamily="34" charset="-122"/>
                <a:cs typeface="Equip Extended Medium" pitchFamily="34" charset="-120"/>
              </a:rPr>
              <a:t>Next-Gen Root Cause Analysis</a:t>
            </a:r>
            <a:endParaRPr lang="en-US" sz="5200" dirty="0"/>
          </a:p>
        </p:txBody>
      </p:sp>
      <p:sp>
        <p:nvSpPr>
          <p:cNvPr id="6" name="Text 2"/>
          <p:cNvSpPr txBox="1"/>
          <p:nvPr/>
        </p:nvSpPr>
        <p:spPr>
          <a:xfrm>
            <a:off x="850392" y="4041648"/>
            <a:ext cx="10972800" cy="548640"/>
          </a:xfrm>
          <a:prstGeom prst="rect">
            <a:avLst/>
          </a:prstGeom>
          <a:noFill/>
          <a:ln/>
        </p:spPr>
        <p:txBody>
          <a:bodyPr wrap="square" lIns="0" tIns="0" rIns="0" bIns="0" rtlCol="0" anchor="ctr"/>
          <a:lstStyle/>
          <a:p>
            <a:pPr indent="0" marL="0">
              <a:buNone/>
            </a:pPr>
            <a:r>
              <a:rPr lang="en-US" sz="2400" dirty="0">
                <a:solidFill>
                  <a:srgbClr val="47D7AC"/>
                </a:solidFill>
                <a:latin typeface="Equip" pitchFamily="34" charset="0"/>
                <a:ea typeface="Equip" pitchFamily="34" charset="-122"/>
                <a:cs typeface="Equip" pitchFamily="34" charset="-120"/>
              </a:rPr>
              <a:t>Automating infra diagnostics with KAG and OpenTelemetry</a:t>
            </a:r>
            <a:endParaRPr lang="en-US" sz="2400" dirty="0"/>
          </a:p>
        </p:txBody>
      </p:sp>
      <p:sp>
        <p:nvSpPr>
          <p:cNvPr id="7" name="Text 3"/>
          <p:cNvSpPr txBox="1"/>
          <p:nvPr/>
        </p:nvSpPr>
        <p:spPr>
          <a:xfrm>
            <a:off x="886968" y="5669280"/>
            <a:ext cx="8595360" cy="914400"/>
          </a:xfrm>
          <a:prstGeom prst="rect">
            <a:avLst/>
          </a:prstGeom>
          <a:noFill/>
          <a:ln/>
        </p:spPr>
        <p:txBody>
          <a:bodyPr wrap="square" lIns="0" tIns="0" rIns="0" bIns="0" rtlCol="0" anchor="ctr"/>
          <a:lstStyle/>
          <a:p>
            <a:pPr indent="0" marL="0">
              <a:lnSpc>
                <a:spcPct val="125000"/>
              </a:lnSpc>
              <a:buNone/>
            </a:pPr>
            <a:r>
              <a:rPr lang="en-US" sz="1700" dirty="0">
                <a:solidFill>
                  <a:srgbClr val="FFFFFF"/>
                </a:solidFill>
                <a:latin typeface="Equip" pitchFamily="34" charset="0"/>
                <a:ea typeface="Equip" pitchFamily="34" charset="-122"/>
                <a:cs typeface="Equip" pitchFamily="34" charset="-120"/>
              </a:rPr>
              <a:t>Format: 45 min — 20 min discussion + 25 min live demo</a:t>
            </a:r>
            <a:endParaRPr lang="en-US" sz="1700" dirty="0"/>
          </a:p>
          <a:p>
            <a:pPr indent="0" marL="0">
              <a:lnSpc>
                <a:spcPct val="125000"/>
              </a:lnSpc>
              <a:buNone/>
            </a:pPr>
            <a:r>
              <a:rPr lang="en-US" sz="1700" dirty="0">
                <a:solidFill>
                  <a:srgbClr val="FFFFFF"/>
                </a:solidFill>
                <a:latin typeface="Equip" pitchFamily="34" charset="0"/>
                <a:ea typeface="Equip" pitchFamily="34" charset="-122"/>
                <a:cs typeface="Equip" pitchFamily="34" charset="-120"/>
              </a:rPr>
              <a:t>Flat log retrieval finds the loudest error. A knowledge graph finds the cause.</a:t>
            </a:r>
            <a:endParaRPr lang="en-US" sz="1700" dirty="0"/>
          </a:p>
        </p:txBody>
      </p:sp>
      <p:sp>
        <p:nvSpPr>
          <p:cNvPr id="8" name="Text 4"/>
          <p:cNvSpPr txBox="1"/>
          <p:nvPr/>
        </p:nvSpPr>
        <p:spPr>
          <a:xfrm>
            <a:off x="9765792" y="7022592"/>
            <a:ext cx="5038344" cy="402336"/>
          </a:xfrm>
          <a:prstGeom prst="rect">
            <a:avLst/>
          </a:prstGeom>
          <a:noFill/>
          <a:ln/>
        </p:spPr>
        <p:txBody>
          <a:bodyPr wrap="square" lIns="0" tIns="0" rIns="0" bIns="0" rtlCol="0" anchor="ctr"/>
          <a:lstStyle/>
          <a:p>
            <a:pPr algn="r" indent="0" marL="0">
              <a:buNone/>
            </a:pPr>
            <a:r>
              <a:rPr lang="en-US" sz="1600" dirty="0">
                <a:solidFill>
                  <a:srgbClr val="FFFFFF"/>
                </a:solidFill>
                <a:latin typeface="Equip Extended Medium" pitchFamily="34" charset="0"/>
                <a:ea typeface="Equip Extended Medium" pitchFamily="34" charset="-122"/>
                <a:cs typeface="Equip Extended Medium" pitchFamily="34" charset="-120"/>
              </a:rPr>
              <a:t>Flo beyond the waves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THE CODE</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Everything in this talk is on GitHub</a:t>
            </a:r>
            <a:endParaRPr lang="en-US" sz="3800" dirty="0"/>
          </a:p>
        </p:txBody>
      </p:sp>
      <p:sp>
        <p:nvSpPr>
          <p:cNvPr id="6" name="Shape 2"/>
          <p:cNvSpPr/>
          <p:nvPr/>
        </p:nvSpPr>
        <p:spPr>
          <a:xfrm>
            <a:off x="8778240" y="2331720"/>
            <a:ext cx="3291840" cy="3291840"/>
          </a:xfrm>
          <a:prstGeom prst="roundRect">
            <a:avLst>
              <a:gd name="adj" fmla="val 2222"/>
            </a:avLst>
          </a:prstGeom>
          <a:solidFill>
            <a:srgbClr val="FFFFFF">
              <a:alpha val="12000"/>
            </a:srgbClr>
          </a:solidFill>
          <a:ln w="31750">
            <a:solidFill>
              <a:srgbClr val="47D7AC"/>
            </a:solidFill>
            <a:prstDash val="dash"/>
          </a:ln>
        </p:spPr>
      </p:sp>
      <p:sp>
        <p:nvSpPr>
          <p:cNvPr id="7" name="Text 3"/>
          <p:cNvSpPr txBox="1"/>
          <p:nvPr/>
        </p:nvSpPr>
        <p:spPr>
          <a:xfrm>
            <a:off x="8778240" y="2331720"/>
            <a:ext cx="3291840" cy="3291840"/>
          </a:xfrm>
          <a:prstGeom prst="rect">
            <a:avLst/>
          </a:prstGeom>
          <a:noFill/>
          <a:ln/>
        </p:spPr>
        <p:txBody>
          <a:bodyPr wrap="square" lIns="0" tIns="0" rIns="0" bIns="0" rtlCol="0" anchor="ctr"/>
          <a:lstStyle/>
          <a:p>
            <a:pPr algn="ctr" indent="0" marL="0">
              <a:lnSpc>
                <a:spcPct val="130000"/>
              </a:lnSpc>
              <a:buNone/>
            </a:pPr>
            <a:r>
              <a:rPr lang="en-US" sz="1800" dirty="0">
                <a:solidFill>
                  <a:srgbClr val="47D7AC"/>
                </a:solidFill>
                <a:latin typeface="Equip" pitchFamily="34" charset="0"/>
                <a:ea typeface="Equip" pitchFamily="34" charset="-122"/>
                <a:cs typeface="Equip" pitchFamily="34" charset="-120"/>
              </a:rPr>
              <a:t>QR code</a:t>
            </a:r>
            <a:endParaRPr lang="en-US" sz="1800" dirty="0"/>
          </a:p>
          <a:p>
            <a:pPr algn="ctr" indent="0" marL="0">
              <a:lnSpc>
                <a:spcPct val="130000"/>
              </a:lnSpc>
              <a:buNone/>
            </a:pPr>
            <a:r>
              <a:rPr lang="en-US" sz="1800" dirty="0">
                <a:solidFill>
                  <a:srgbClr val="47D7AC"/>
                </a:solidFill>
                <a:latin typeface="Equip" pitchFamily="34" charset="0"/>
                <a:ea typeface="Equip" pitchFamily="34" charset="-122"/>
                <a:cs typeface="Equip" pitchFamily="34" charset="-120"/>
              </a:rPr>
              <a:t>goes here</a:t>
            </a:r>
            <a:endParaRPr lang="en-US" sz="1800" dirty="0"/>
          </a:p>
        </p:txBody>
      </p:sp>
      <p:sp>
        <p:nvSpPr>
          <p:cNvPr id="8" name="Text 4"/>
          <p:cNvSpPr txBox="1"/>
          <p:nvPr/>
        </p:nvSpPr>
        <p:spPr>
          <a:xfrm>
            <a:off x="8778240" y="5742432"/>
            <a:ext cx="3291840" cy="365760"/>
          </a:xfrm>
          <a:prstGeom prst="rect">
            <a:avLst/>
          </a:prstGeom>
          <a:noFill/>
          <a:ln/>
        </p:spPr>
        <p:txBody>
          <a:bodyPr wrap="square" lIns="0" tIns="0" rIns="0" bIns="0" rtlCol="0" anchor="ctr"/>
          <a:lstStyle/>
          <a:p>
            <a:pPr algn="ctr" indent="0" marL="0">
              <a:buNone/>
            </a:pPr>
            <a:r>
              <a:rPr lang="en-US" sz="1600" dirty="0">
                <a:solidFill>
                  <a:srgbClr val="C6C2F2"/>
                </a:solidFill>
                <a:latin typeface="Equip" pitchFamily="34" charset="0"/>
                <a:ea typeface="Equip" pitchFamily="34" charset="-122"/>
                <a:cs typeface="Equip" pitchFamily="34" charset="-120"/>
              </a:rPr>
              <a:t>Scan to clone the demo</a:t>
            </a:r>
            <a:endParaRPr lang="en-US" sz="1600" dirty="0"/>
          </a:p>
        </p:txBody>
      </p:sp>
      <p:sp>
        <p:nvSpPr>
          <p:cNvPr id="9" name="Shape 5"/>
          <p:cNvSpPr/>
          <p:nvPr/>
        </p:nvSpPr>
        <p:spPr>
          <a:xfrm>
            <a:off x="822960" y="2423160"/>
            <a:ext cx="146304" cy="146304"/>
          </a:xfrm>
          <a:prstGeom prst="ellipse">
            <a:avLst/>
          </a:prstGeom>
          <a:solidFill>
            <a:srgbClr val="47D7AC"/>
          </a:solidFill>
          <a:ln/>
        </p:spPr>
      </p:sp>
      <p:sp>
        <p:nvSpPr>
          <p:cNvPr id="10" name="Text 6"/>
          <p:cNvSpPr txBox="1"/>
          <p:nvPr/>
        </p:nvSpPr>
        <p:spPr>
          <a:xfrm>
            <a:off x="1234440" y="2331720"/>
            <a:ext cx="7315200" cy="384048"/>
          </a:xfrm>
          <a:prstGeom prst="rect">
            <a:avLst/>
          </a:prstGeom>
          <a:noFill/>
          <a:ln/>
        </p:spPr>
        <p:txBody>
          <a:bodyPr wrap="square" lIns="0" tIns="0" rIns="0" bIns="0" rtlCol="0" anchor="t"/>
          <a:lstStyle/>
          <a:p>
            <a:pPr indent="0" marL="0">
              <a:buNone/>
            </a:pPr>
            <a:r>
              <a:rPr lang="en-US" sz="2000" dirty="0">
                <a:solidFill>
                  <a:srgbClr val="FFFFFF"/>
                </a:solidFill>
                <a:latin typeface="Equip Extended Medium" pitchFamily="34" charset="0"/>
                <a:ea typeface="Equip Extended Medium" pitchFamily="34" charset="-122"/>
                <a:cs typeface="Equip Extended Medium" pitchFamily="34" charset="-120"/>
              </a:rPr>
              <a:t>Four instrumented services</a:t>
            </a:r>
            <a:endParaRPr lang="en-US" sz="2000" dirty="0"/>
          </a:p>
        </p:txBody>
      </p:sp>
      <p:sp>
        <p:nvSpPr>
          <p:cNvPr id="11" name="Text 7"/>
          <p:cNvSpPr txBox="1"/>
          <p:nvPr/>
        </p:nvSpPr>
        <p:spPr>
          <a:xfrm>
            <a:off x="1234440" y="2734056"/>
            <a:ext cx="749808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Spring Boot + the OpenTelemetry Java agent. Zero instrumentation code.</a:t>
            </a:r>
            <a:endParaRPr lang="en-US" sz="1600" dirty="0"/>
          </a:p>
        </p:txBody>
      </p:sp>
      <p:sp>
        <p:nvSpPr>
          <p:cNvPr id="12" name="Shape 8"/>
          <p:cNvSpPr/>
          <p:nvPr/>
        </p:nvSpPr>
        <p:spPr>
          <a:xfrm>
            <a:off x="822960" y="3410712"/>
            <a:ext cx="146304" cy="146304"/>
          </a:xfrm>
          <a:prstGeom prst="ellipse">
            <a:avLst/>
          </a:prstGeom>
          <a:solidFill>
            <a:srgbClr val="47D7AC"/>
          </a:solidFill>
          <a:ln/>
        </p:spPr>
      </p:sp>
      <p:sp>
        <p:nvSpPr>
          <p:cNvPr id="13" name="Text 9"/>
          <p:cNvSpPr txBox="1"/>
          <p:nvPr/>
        </p:nvSpPr>
        <p:spPr>
          <a:xfrm>
            <a:off x="1234440" y="3319272"/>
            <a:ext cx="7315200" cy="384048"/>
          </a:xfrm>
          <a:prstGeom prst="rect">
            <a:avLst/>
          </a:prstGeom>
          <a:noFill/>
          <a:ln/>
        </p:spPr>
        <p:txBody>
          <a:bodyPr wrap="square" lIns="0" tIns="0" rIns="0" bIns="0" rtlCol="0" anchor="t"/>
          <a:lstStyle/>
          <a:p>
            <a:pPr indent="0" marL="0">
              <a:buNone/>
            </a:pPr>
            <a:r>
              <a:rPr lang="en-US" sz="2000" dirty="0">
                <a:solidFill>
                  <a:srgbClr val="FFFFFF"/>
                </a:solidFill>
                <a:latin typeface="Equip Extended Medium" pitchFamily="34" charset="0"/>
                <a:ea typeface="Equip Extended Medium" pitchFamily="34" charset="-122"/>
                <a:cs typeface="Equip Extended Medium" pitchFamily="34" charset="-120"/>
              </a:rPr>
              <a:t>The KAG engine</a:t>
            </a:r>
            <a:endParaRPr lang="en-US" sz="2000" dirty="0"/>
          </a:p>
        </p:txBody>
      </p:sp>
      <p:sp>
        <p:nvSpPr>
          <p:cNvPr id="14" name="Text 10"/>
          <p:cNvSpPr txBox="1"/>
          <p:nvPr/>
        </p:nvSpPr>
        <p:spPr>
          <a:xfrm>
            <a:off x="1234440" y="3721608"/>
            <a:ext cx="749808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Graph builder, traversal, ranking and the prompt — about 900 lines of Python.</a:t>
            </a:r>
            <a:endParaRPr lang="en-US" sz="1600" dirty="0"/>
          </a:p>
        </p:txBody>
      </p:sp>
      <p:sp>
        <p:nvSpPr>
          <p:cNvPr id="15" name="Shape 11"/>
          <p:cNvSpPr/>
          <p:nvPr/>
        </p:nvSpPr>
        <p:spPr>
          <a:xfrm>
            <a:off x="822960" y="4398264"/>
            <a:ext cx="146304" cy="146304"/>
          </a:xfrm>
          <a:prstGeom prst="ellipse">
            <a:avLst/>
          </a:prstGeom>
          <a:solidFill>
            <a:srgbClr val="47D7AC"/>
          </a:solidFill>
          <a:ln/>
        </p:spPr>
      </p:sp>
      <p:sp>
        <p:nvSpPr>
          <p:cNvPr id="16" name="Text 12"/>
          <p:cNvSpPr txBox="1"/>
          <p:nvPr/>
        </p:nvSpPr>
        <p:spPr>
          <a:xfrm>
            <a:off x="1234440" y="4306824"/>
            <a:ext cx="7315200" cy="384048"/>
          </a:xfrm>
          <a:prstGeom prst="rect">
            <a:avLst/>
          </a:prstGeom>
          <a:noFill/>
          <a:ln/>
        </p:spPr>
        <p:txBody>
          <a:bodyPr wrap="square" lIns="0" tIns="0" rIns="0" bIns="0" rtlCol="0" anchor="t"/>
          <a:lstStyle/>
          <a:p>
            <a:pPr indent="0" marL="0">
              <a:buNone/>
            </a:pPr>
            <a:r>
              <a:rPr lang="en-US" sz="2000" dirty="0">
                <a:solidFill>
                  <a:srgbClr val="FFFFFF"/>
                </a:solidFill>
                <a:latin typeface="Equip Extended Medium" pitchFamily="34" charset="0"/>
                <a:ea typeface="Equip Extended Medium" pitchFamily="34" charset="-122"/>
                <a:cs typeface="Equip Extended Medium" pitchFamily="34" charset="-120"/>
              </a:rPr>
              <a:t>The live console</a:t>
            </a:r>
            <a:endParaRPr lang="en-US" sz="2000" dirty="0"/>
          </a:p>
        </p:txBody>
      </p:sp>
      <p:sp>
        <p:nvSpPr>
          <p:cNvPr id="17" name="Text 13"/>
          <p:cNvSpPr txBox="1"/>
          <p:nvPr/>
        </p:nvSpPr>
        <p:spPr>
          <a:xfrm>
            <a:off x="1234440" y="4709160"/>
            <a:ext cx="749808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Run every scenario and both analyses from one screen.</a:t>
            </a:r>
            <a:endParaRPr lang="en-US" sz="1600" dirty="0"/>
          </a:p>
        </p:txBody>
      </p:sp>
      <p:sp>
        <p:nvSpPr>
          <p:cNvPr id="18" name="Shape 14"/>
          <p:cNvSpPr/>
          <p:nvPr/>
        </p:nvSpPr>
        <p:spPr>
          <a:xfrm>
            <a:off x="822960" y="5385816"/>
            <a:ext cx="146304" cy="146304"/>
          </a:xfrm>
          <a:prstGeom prst="ellipse">
            <a:avLst/>
          </a:prstGeom>
          <a:solidFill>
            <a:srgbClr val="47D7AC"/>
          </a:solidFill>
          <a:ln/>
        </p:spPr>
      </p:sp>
      <p:sp>
        <p:nvSpPr>
          <p:cNvPr id="19" name="Text 15"/>
          <p:cNvSpPr txBox="1"/>
          <p:nvPr/>
        </p:nvSpPr>
        <p:spPr>
          <a:xfrm>
            <a:off x="1234440" y="5294376"/>
            <a:ext cx="7315200" cy="384048"/>
          </a:xfrm>
          <a:prstGeom prst="rect">
            <a:avLst/>
          </a:prstGeom>
          <a:noFill/>
          <a:ln/>
        </p:spPr>
        <p:txBody>
          <a:bodyPr wrap="square" lIns="0" tIns="0" rIns="0" bIns="0" rtlCol="0" anchor="t"/>
          <a:lstStyle/>
          <a:p>
            <a:pPr indent="0" marL="0">
              <a:buNone/>
            </a:pPr>
            <a:r>
              <a:rPr lang="en-US" sz="2000" dirty="0">
                <a:solidFill>
                  <a:srgbClr val="FFFFFF"/>
                </a:solidFill>
                <a:latin typeface="Equip Extended Medium" pitchFamily="34" charset="0"/>
                <a:ea typeface="Equip Extended Medium" pitchFamily="34" charset="-122"/>
                <a:cs typeface="Equip Extended Medium" pitchFamily="34" charset="-120"/>
              </a:rPr>
              <a:t>Runbook, Q&amp;A and code walkthrough</a:t>
            </a:r>
            <a:endParaRPr lang="en-US" sz="2000" dirty="0"/>
          </a:p>
        </p:txBody>
      </p:sp>
      <p:sp>
        <p:nvSpPr>
          <p:cNvPr id="20" name="Text 16"/>
          <p:cNvSpPr txBox="1"/>
          <p:nvPr/>
        </p:nvSpPr>
        <p:spPr>
          <a:xfrm>
            <a:off x="1234440" y="5696712"/>
            <a:ext cx="749808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Everything needed to re-run this session yourself.</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AGENDA</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Where we're going</a:t>
            </a:r>
            <a:endParaRPr lang="en-US" sz="3800" dirty="0"/>
          </a:p>
        </p:txBody>
      </p:sp>
      <p:sp>
        <p:nvSpPr>
          <p:cNvPr id="6" name="Text 2"/>
          <p:cNvSpPr txBox="1"/>
          <p:nvPr/>
        </p:nvSpPr>
        <p:spPr>
          <a:xfrm>
            <a:off x="822960" y="2194560"/>
            <a:ext cx="658368" cy="457200"/>
          </a:xfrm>
          <a:prstGeom prst="rect">
            <a:avLst/>
          </a:prstGeom>
          <a:noFill/>
          <a:ln/>
        </p:spPr>
        <p:txBody>
          <a:bodyPr wrap="square" lIns="0" tIns="0" rIns="0" bIns="0" rtlCol="0" anchor="t"/>
          <a:lstStyle/>
          <a:p>
            <a:pPr indent="0" marL="0">
              <a:buNone/>
            </a:pPr>
            <a:r>
              <a:rPr lang="en-US" sz="2400" dirty="0">
                <a:solidFill>
                  <a:srgbClr val="FF7A6B"/>
                </a:solidFill>
                <a:latin typeface="Equip Extended Medium" pitchFamily="34" charset="0"/>
                <a:ea typeface="Equip Extended Medium" pitchFamily="34" charset="-122"/>
                <a:cs typeface="Equip Extended Medium" pitchFamily="34" charset="-120"/>
              </a:rPr>
              <a:t>01</a:t>
            </a:r>
            <a:endParaRPr lang="en-US" sz="2400" dirty="0"/>
          </a:p>
        </p:txBody>
      </p:sp>
      <p:sp>
        <p:nvSpPr>
          <p:cNvPr id="7" name="Text 3"/>
          <p:cNvSpPr txBox="1"/>
          <p:nvPr/>
        </p:nvSpPr>
        <p:spPr>
          <a:xfrm>
            <a:off x="1536192" y="2194560"/>
            <a:ext cx="411480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The problem</a:t>
            </a:r>
            <a:endParaRPr lang="en-US" sz="2100" dirty="0"/>
          </a:p>
        </p:txBody>
      </p:sp>
      <p:sp>
        <p:nvSpPr>
          <p:cNvPr id="8" name="Text 4"/>
          <p:cNvSpPr txBox="1"/>
          <p:nvPr/>
        </p:nvSpPr>
        <p:spPr>
          <a:xfrm>
            <a:off x="1536192" y="2615184"/>
            <a:ext cx="493776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Why root cause analysis still takes hours</a:t>
            </a:r>
            <a:endParaRPr lang="en-US" sz="1600" dirty="0"/>
          </a:p>
        </p:txBody>
      </p:sp>
      <p:sp>
        <p:nvSpPr>
          <p:cNvPr id="9" name="Text 5"/>
          <p:cNvSpPr txBox="1"/>
          <p:nvPr/>
        </p:nvSpPr>
        <p:spPr>
          <a:xfrm>
            <a:off x="6583680" y="2231136"/>
            <a:ext cx="868680" cy="329184"/>
          </a:xfrm>
          <a:prstGeom prst="rect">
            <a:avLst/>
          </a:prstGeom>
          <a:noFill/>
          <a:ln/>
        </p:spPr>
        <p:txBody>
          <a:bodyPr wrap="square" lIns="0" tIns="0" rIns="0" bIns="0" rtlCol="0" anchor="t"/>
          <a:lstStyle/>
          <a:p>
            <a:pPr algn="r" indent="0" marL="0">
              <a:buNone/>
            </a:pPr>
            <a:r>
              <a:rPr lang="en-US" sz="1400" dirty="0">
                <a:solidFill>
                  <a:srgbClr val="FF7A6B"/>
                </a:solidFill>
                <a:latin typeface="Equip" pitchFamily="34" charset="0"/>
                <a:ea typeface="Equip" pitchFamily="34" charset="-122"/>
                <a:cs typeface="Equip" pitchFamily="34" charset="-120"/>
              </a:rPr>
              <a:t>~4 min</a:t>
            </a:r>
            <a:endParaRPr lang="en-US" sz="1400" dirty="0"/>
          </a:p>
        </p:txBody>
      </p:sp>
      <p:sp>
        <p:nvSpPr>
          <p:cNvPr id="10" name="Text 6"/>
          <p:cNvSpPr txBox="1"/>
          <p:nvPr/>
        </p:nvSpPr>
        <p:spPr>
          <a:xfrm>
            <a:off x="822960" y="3383280"/>
            <a:ext cx="658368" cy="457200"/>
          </a:xfrm>
          <a:prstGeom prst="rect">
            <a:avLst/>
          </a:prstGeom>
          <a:noFill/>
          <a:ln/>
        </p:spPr>
        <p:txBody>
          <a:bodyPr wrap="square" lIns="0" tIns="0" rIns="0" bIns="0" rtlCol="0" anchor="t"/>
          <a:lstStyle/>
          <a:p>
            <a:pPr indent="0" marL="0">
              <a:buNone/>
            </a:pPr>
            <a:r>
              <a:rPr lang="en-US" sz="2400" dirty="0">
                <a:solidFill>
                  <a:srgbClr val="FF7A6B"/>
                </a:solidFill>
                <a:latin typeface="Equip Extended Medium" pitchFamily="34" charset="0"/>
                <a:ea typeface="Equip Extended Medium" pitchFamily="34" charset="-122"/>
                <a:cs typeface="Equip Extended Medium" pitchFamily="34" charset="-120"/>
              </a:rPr>
              <a:t>02</a:t>
            </a:r>
            <a:endParaRPr lang="en-US" sz="2400" dirty="0"/>
          </a:p>
        </p:txBody>
      </p:sp>
      <p:sp>
        <p:nvSpPr>
          <p:cNvPr id="11" name="Text 7"/>
          <p:cNvSpPr txBox="1"/>
          <p:nvPr/>
        </p:nvSpPr>
        <p:spPr>
          <a:xfrm>
            <a:off x="1536192" y="3383280"/>
            <a:ext cx="411480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Why log search cannot win</a:t>
            </a:r>
            <a:endParaRPr lang="en-US" sz="2100" dirty="0"/>
          </a:p>
        </p:txBody>
      </p:sp>
      <p:sp>
        <p:nvSpPr>
          <p:cNvPr id="12" name="Text 8"/>
          <p:cNvSpPr txBox="1"/>
          <p:nvPr/>
        </p:nvSpPr>
        <p:spPr>
          <a:xfrm>
            <a:off x="1536192" y="3803904"/>
            <a:ext cx="493776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The cause that never wrote a log line</a:t>
            </a:r>
            <a:endParaRPr lang="en-US" sz="1600" dirty="0"/>
          </a:p>
        </p:txBody>
      </p:sp>
      <p:sp>
        <p:nvSpPr>
          <p:cNvPr id="13" name="Text 9"/>
          <p:cNvSpPr txBox="1"/>
          <p:nvPr/>
        </p:nvSpPr>
        <p:spPr>
          <a:xfrm>
            <a:off x="6583680" y="3419856"/>
            <a:ext cx="868680" cy="329184"/>
          </a:xfrm>
          <a:prstGeom prst="rect">
            <a:avLst/>
          </a:prstGeom>
          <a:noFill/>
          <a:ln/>
        </p:spPr>
        <p:txBody>
          <a:bodyPr wrap="square" lIns="0" tIns="0" rIns="0" bIns="0" rtlCol="0" anchor="t"/>
          <a:lstStyle/>
          <a:p>
            <a:pPr algn="r" indent="0" marL="0">
              <a:buNone/>
            </a:pPr>
            <a:r>
              <a:rPr lang="en-US" sz="1400" dirty="0">
                <a:solidFill>
                  <a:srgbClr val="FF7A6B"/>
                </a:solidFill>
                <a:latin typeface="Equip" pitchFamily="34" charset="0"/>
                <a:ea typeface="Equip" pitchFamily="34" charset="-122"/>
                <a:cs typeface="Equip" pitchFamily="34" charset="-120"/>
              </a:rPr>
              <a:t>~4 min</a:t>
            </a:r>
            <a:endParaRPr lang="en-US" sz="1400" dirty="0"/>
          </a:p>
        </p:txBody>
      </p:sp>
      <p:sp>
        <p:nvSpPr>
          <p:cNvPr id="14" name="Text 10"/>
          <p:cNvSpPr txBox="1"/>
          <p:nvPr/>
        </p:nvSpPr>
        <p:spPr>
          <a:xfrm>
            <a:off x="822960" y="4572000"/>
            <a:ext cx="658368" cy="457200"/>
          </a:xfrm>
          <a:prstGeom prst="rect">
            <a:avLst/>
          </a:prstGeom>
          <a:noFill/>
          <a:ln/>
        </p:spPr>
        <p:txBody>
          <a:bodyPr wrap="square" lIns="0" tIns="0" rIns="0" bIns="0" rtlCol="0" anchor="t"/>
          <a:lstStyle/>
          <a:p>
            <a:pPr indent="0" marL="0">
              <a:buNone/>
            </a:pPr>
            <a:r>
              <a:rPr lang="en-US" sz="2400" dirty="0">
                <a:solidFill>
                  <a:srgbClr val="F45BD3"/>
                </a:solidFill>
                <a:latin typeface="Equip Extended Medium" pitchFamily="34" charset="0"/>
                <a:ea typeface="Equip Extended Medium" pitchFamily="34" charset="-122"/>
                <a:cs typeface="Equip Extended Medium" pitchFamily="34" charset="-120"/>
              </a:rPr>
              <a:t>03</a:t>
            </a:r>
            <a:endParaRPr lang="en-US" sz="2400" dirty="0"/>
          </a:p>
        </p:txBody>
      </p:sp>
      <p:sp>
        <p:nvSpPr>
          <p:cNvPr id="15" name="Text 11"/>
          <p:cNvSpPr txBox="1"/>
          <p:nvPr/>
        </p:nvSpPr>
        <p:spPr>
          <a:xfrm>
            <a:off x="1536192" y="4572000"/>
            <a:ext cx="411480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The shift</a:t>
            </a:r>
            <a:endParaRPr lang="en-US" sz="2100" dirty="0"/>
          </a:p>
        </p:txBody>
      </p:sp>
      <p:sp>
        <p:nvSpPr>
          <p:cNvPr id="16" name="Text 12"/>
          <p:cNvSpPr txBox="1"/>
          <p:nvPr/>
        </p:nvSpPr>
        <p:spPr>
          <a:xfrm>
            <a:off x="1536192" y="4992624"/>
            <a:ext cx="493776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From retrieving text to traversing structure</a:t>
            </a:r>
            <a:endParaRPr lang="en-US" sz="1600" dirty="0"/>
          </a:p>
        </p:txBody>
      </p:sp>
      <p:sp>
        <p:nvSpPr>
          <p:cNvPr id="17" name="Text 13"/>
          <p:cNvSpPr txBox="1"/>
          <p:nvPr/>
        </p:nvSpPr>
        <p:spPr>
          <a:xfrm>
            <a:off x="6583680" y="4608576"/>
            <a:ext cx="868680" cy="329184"/>
          </a:xfrm>
          <a:prstGeom prst="rect">
            <a:avLst/>
          </a:prstGeom>
          <a:noFill/>
          <a:ln/>
        </p:spPr>
        <p:txBody>
          <a:bodyPr wrap="square" lIns="0" tIns="0" rIns="0" bIns="0" rtlCol="0" anchor="t"/>
          <a:lstStyle/>
          <a:p>
            <a:pPr algn="r" indent="0" marL="0">
              <a:buNone/>
            </a:pPr>
            <a:r>
              <a:rPr lang="en-US" sz="1400" dirty="0">
                <a:solidFill>
                  <a:srgbClr val="F45BD3"/>
                </a:solidFill>
                <a:latin typeface="Equip" pitchFamily="34" charset="0"/>
                <a:ea typeface="Equip" pitchFamily="34" charset="-122"/>
                <a:cs typeface="Equip" pitchFamily="34" charset="-120"/>
              </a:rPr>
              <a:t>~4 min</a:t>
            </a:r>
            <a:endParaRPr lang="en-US" sz="1400" dirty="0"/>
          </a:p>
        </p:txBody>
      </p:sp>
      <p:sp>
        <p:nvSpPr>
          <p:cNvPr id="18" name="Text 14"/>
          <p:cNvSpPr txBox="1"/>
          <p:nvPr/>
        </p:nvSpPr>
        <p:spPr>
          <a:xfrm>
            <a:off x="822960" y="5760720"/>
            <a:ext cx="658368" cy="457200"/>
          </a:xfrm>
          <a:prstGeom prst="rect">
            <a:avLst/>
          </a:prstGeom>
          <a:noFill/>
          <a:ln/>
        </p:spPr>
        <p:txBody>
          <a:bodyPr wrap="square" lIns="0" tIns="0" rIns="0" bIns="0" rtlCol="0" anchor="t"/>
          <a:lstStyle/>
          <a:p>
            <a:pPr indent="0" marL="0">
              <a:buNone/>
            </a:pPr>
            <a:r>
              <a:rPr lang="en-US" sz="2400" dirty="0">
                <a:solidFill>
                  <a:srgbClr val="7FB0FF"/>
                </a:solidFill>
                <a:latin typeface="Equip Extended Medium" pitchFamily="34" charset="0"/>
                <a:ea typeface="Equip Extended Medium" pitchFamily="34" charset="-122"/>
                <a:cs typeface="Equip Extended Medium" pitchFamily="34" charset="-120"/>
              </a:rPr>
              <a:t>04</a:t>
            </a:r>
            <a:endParaRPr lang="en-US" sz="2400" dirty="0"/>
          </a:p>
        </p:txBody>
      </p:sp>
      <p:sp>
        <p:nvSpPr>
          <p:cNvPr id="19" name="Text 15"/>
          <p:cNvSpPr txBox="1"/>
          <p:nvPr/>
        </p:nvSpPr>
        <p:spPr>
          <a:xfrm>
            <a:off x="1536192" y="5760720"/>
            <a:ext cx="411480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The foundations</a:t>
            </a:r>
            <a:endParaRPr lang="en-US" sz="2100" dirty="0"/>
          </a:p>
        </p:txBody>
      </p:sp>
      <p:sp>
        <p:nvSpPr>
          <p:cNvPr id="20" name="Text 16"/>
          <p:cNvSpPr txBox="1"/>
          <p:nvPr/>
        </p:nvSpPr>
        <p:spPr>
          <a:xfrm>
            <a:off x="1536192" y="6181344"/>
            <a:ext cx="493776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OpenTelemetry, and the WHAT/WHY gap</a:t>
            </a:r>
            <a:endParaRPr lang="en-US" sz="1600" dirty="0"/>
          </a:p>
        </p:txBody>
      </p:sp>
      <p:sp>
        <p:nvSpPr>
          <p:cNvPr id="21" name="Text 17"/>
          <p:cNvSpPr txBox="1"/>
          <p:nvPr/>
        </p:nvSpPr>
        <p:spPr>
          <a:xfrm>
            <a:off x="6583680" y="5797296"/>
            <a:ext cx="868680" cy="329184"/>
          </a:xfrm>
          <a:prstGeom prst="rect">
            <a:avLst/>
          </a:prstGeom>
          <a:noFill/>
          <a:ln/>
        </p:spPr>
        <p:txBody>
          <a:bodyPr wrap="square" lIns="0" tIns="0" rIns="0" bIns="0" rtlCol="0" anchor="t"/>
          <a:lstStyle/>
          <a:p>
            <a:pPr algn="r" indent="0" marL="0">
              <a:buNone/>
            </a:pPr>
            <a:r>
              <a:rPr lang="en-US" sz="1400" dirty="0">
                <a:solidFill>
                  <a:srgbClr val="7FB0FF"/>
                </a:solidFill>
                <a:latin typeface="Equip" pitchFamily="34" charset="0"/>
                <a:ea typeface="Equip" pitchFamily="34" charset="-122"/>
                <a:cs typeface="Equip" pitchFamily="34" charset="-120"/>
              </a:rPr>
              <a:t>~8 min</a:t>
            </a:r>
            <a:endParaRPr lang="en-US" sz="1400" dirty="0"/>
          </a:p>
        </p:txBody>
      </p:sp>
      <p:sp>
        <p:nvSpPr>
          <p:cNvPr id="22" name="Text 18"/>
          <p:cNvSpPr txBox="1"/>
          <p:nvPr/>
        </p:nvSpPr>
        <p:spPr>
          <a:xfrm>
            <a:off x="7772400" y="2194560"/>
            <a:ext cx="658368" cy="457200"/>
          </a:xfrm>
          <a:prstGeom prst="rect">
            <a:avLst/>
          </a:prstGeom>
          <a:noFill/>
          <a:ln/>
        </p:spPr>
        <p:txBody>
          <a:bodyPr wrap="square" lIns="0" tIns="0" rIns="0" bIns="0" rtlCol="0" anchor="t"/>
          <a:lstStyle/>
          <a:p>
            <a:pPr indent="0" marL="0">
              <a:buNone/>
            </a:pPr>
            <a:r>
              <a:rPr lang="en-US" sz="2400" dirty="0">
                <a:solidFill>
                  <a:srgbClr val="47D7AC"/>
                </a:solidFill>
                <a:latin typeface="Equip Extended Medium" pitchFamily="34" charset="0"/>
                <a:ea typeface="Equip Extended Medium" pitchFamily="34" charset="-122"/>
                <a:cs typeface="Equip Extended Medium" pitchFamily="34" charset="-120"/>
              </a:rPr>
              <a:t>05</a:t>
            </a:r>
            <a:endParaRPr lang="en-US" sz="2400" dirty="0"/>
          </a:p>
        </p:txBody>
      </p:sp>
      <p:sp>
        <p:nvSpPr>
          <p:cNvPr id="23" name="Text 19"/>
          <p:cNvSpPr txBox="1"/>
          <p:nvPr/>
        </p:nvSpPr>
        <p:spPr>
          <a:xfrm>
            <a:off x="8485632" y="2194560"/>
            <a:ext cx="411480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Live demo</a:t>
            </a:r>
            <a:endParaRPr lang="en-US" sz="2100" dirty="0"/>
          </a:p>
        </p:txBody>
      </p:sp>
      <p:sp>
        <p:nvSpPr>
          <p:cNvPr id="24" name="Text 20"/>
          <p:cNvSpPr txBox="1"/>
          <p:nvPr/>
        </p:nvSpPr>
        <p:spPr>
          <a:xfrm>
            <a:off x="8485632" y="2615184"/>
            <a:ext cx="493776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Same data, same model — one has a graph</a:t>
            </a:r>
            <a:endParaRPr lang="en-US" sz="1600" dirty="0"/>
          </a:p>
        </p:txBody>
      </p:sp>
      <p:sp>
        <p:nvSpPr>
          <p:cNvPr id="25" name="Text 21"/>
          <p:cNvSpPr txBox="1"/>
          <p:nvPr/>
        </p:nvSpPr>
        <p:spPr>
          <a:xfrm>
            <a:off x="13533120" y="2231136"/>
            <a:ext cx="868680" cy="329184"/>
          </a:xfrm>
          <a:prstGeom prst="rect">
            <a:avLst/>
          </a:prstGeom>
          <a:noFill/>
          <a:ln/>
        </p:spPr>
        <p:txBody>
          <a:bodyPr wrap="square" lIns="0" tIns="0" rIns="0" bIns="0" rtlCol="0" anchor="t"/>
          <a:lstStyle/>
          <a:p>
            <a:pPr algn="r" indent="0" marL="0">
              <a:buNone/>
            </a:pPr>
            <a:r>
              <a:rPr lang="en-US" sz="1400" dirty="0">
                <a:solidFill>
                  <a:srgbClr val="47D7AC"/>
                </a:solidFill>
                <a:latin typeface="Equip" pitchFamily="34" charset="0"/>
                <a:ea typeface="Equip" pitchFamily="34" charset="-122"/>
                <a:cs typeface="Equip" pitchFamily="34" charset="-120"/>
              </a:rPr>
              <a:t>25 min</a:t>
            </a:r>
            <a:endParaRPr lang="en-US" sz="1400" dirty="0"/>
          </a:p>
        </p:txBody>
      </p:sp>
      <p:sp>
        <p:nvSpPr>
          <p:cNvPr id="26" name="Text 22"/>
          <p:cNvSpPr txBox="1"/>
          <p:nvPr/>
        </p:nvSpPr>
        <p:spPr>
          <a:xfrm>
            <a:off x="7772400" y="3383280"/>
            <a:ext cx="658368" cy="457200"/>
          </a:xfrm>
          <a:prstGeom prst="rect">
            <a:avLst/>
          </a:prstGeom>
          <a:noFill/>
          <a:ln/>
        </p:spPr>
        <p:txBody>
          <a:bodyPr wrap="square" lIns="0" tIns="0" rIns="0" bIns="0" rtlCol="0" anchor="t"/>
          <a:lstStyle/>
          <a:p>
            <a:pPr indent="0" marL="0">
              <a:buNone/>
            </a:pPr>
            <a:r>
              <a:rPr lang="en-US" sz="2400" dirty="0">
                <a:solidFill>
                  <a:srgbClr val="FFC94D"/>
                </a:solidFill>
                <a:latin typeface="Equip Extended Medium" pitchFamily="34" charset="0"/>
                <a:ea typeface="Equip Extended Medium" pitchFamily="34" charset="-122"/>
                <a:cs typeface="Equip Extended Medium" pitchFamily="34" charset="-120"/>
              </a:rPr>
              <a:t>06</a:t>
            </a:r>
            <a:endParaRPr lang="en-US" sz="2400" dirty="0"/>
          </a:p>
        </p:txBody>
      </p:sp>
      <p:sp>
        <p:nvSpPr>
          <p:cNvPr id="27" name="Text 23"/>
          <p:cNvSpPr txBox="1"/>
          <p:nvPr/>
        </p:nvSpPr>
        <p:spPr>
          <a:xfrm>
            <a:off x="8485632" y="3383280"/>
            <a:ext cx="411480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Under the hood</a:t>
            </a:r>
            <a:endParaRPr lang="en-US" sz="2100" dirty="0"/>
          </a:p>
        </p:txBody>
      </p:sp>
      <p:sp>
        <p:nvSpPr>
          <p:cNvPr id="28" name="Text 24"/>
          <p:cNvSpPr txBox="1"/>
          <p:nvPr/>
        </p:nvSpPr>
        <p:spPr>
          <a:xfrm>
            <a:off x="8485632" y="3803904"/>
            <a:ext cx="493776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Four stages, four signals</a:t>
            </a:r>
            <a:endParaRPr lang="en-US" sz="1600" dirty="0"/>
          </a:p>
        </p:txBody>
      </p:sp>
      <p:sp>
        <p:nvSpPr>
          <p:cNvPr id="29" name="Text 25"/>
          <p:cNvSpPr txBox="1"/>
          <p:nvPr/>
        </p:nvSpPr>
        <p:spPr>
          <a:xfrm>
            <a:off x="13533120" y="3419856"/>
            <a:ext cx="868680" cy="329184"/>
          </a:xfrm>
          <a:prstGeom prst="rect">
            <a:avLst/>
          </a:prstGeom>
          <a:noFill/>
          <a:ln/>
        </p:spPr>
        <p:txBody>
          <a:bodyPr wrap="square" lIns="0" tIns="0" rIns="0" bIns="0" rtlCol="0" anchor="t"/>
          <a:lstStyle/>
          <a:p>
            <a:pPr algn="r" indent="0" marL="0">
              <a:buNone/>
            </a:pPr>
            <a:r>
              <a:rPr lang="en-US" sz="1400" dirty="0">
                <a:solidFill>
                  <a:srgbClr val="FFC94D"/>
                </a:solidFill>
                <a:latin typeface="Equip" pitchFamily="34" charset="0"/>
                <a:ea typeface="Equip" pitchFamily="34" charset="-122"/>
                <a:cs typeface="Equip" pitchFamily="34" charset="-120"/>
              </a:rPr>
              <a:t>~5 min</a:t>
            </a:r>
            <a:endParaRPr lang="en-US" sz="1400" dirty="0"/>
          </a:p>
        </p:txBody>
      </p:sp>
      <p:sp>
        <p:nvSpPr>
          <p:cNvPr id="30" name="Text 26"/>
          <p:cNvSpPr txBox="1"/>
          <p:nvPr/>
        </p:nvSpPr>
        <p:spPr>
          <a:xfrm>
            <a:off x="7772400" y="4572000"/>
            <a:ext cx="658368" cy="457200"/>
          </a:xfrm>
          <a:prstGeom prst="rect">
            <a:avLst/>
          </a:prstGeom>
          <a:noFill/>
          <a:ln/>
        </p:spPr>
        <p:txBody>
          <a:bodyPr wrap="square" lIns="0" tIns="0" rIns="0" bIns="0" rtlCol="0" anchor="t"/>
          <a:lstStyle/>
          <a:p>
            <a:pPr indent="0" marL="0">
              <a:buNone/>
            </a:pPr>
            <a:r>
              <a:rPr lang="en-US" sz="2400" dirty="0">
                <a:solidFill>
                  <a:srgbClr val="C6C2F2"/>
                </a:solidFill>
                <a:latin typeface="Equip Extended Medium" pitchFamily="34" charset="0"/>
                <a:ea typeface="Equip Extended Medium" pitchFamily="34" charset="-122"/>
                <a:cs typeface="Equip Extended Medium" pitchFamily="34" charset="-120"/>
              </a:rPr>
              <a:t>07</a:t>
            </a:r>
            <a:endParaRPr lang="en-US" sz="2400" dirty="0"/>
          </a:p>
        </p:txBody>
      </p:sp>
      <p:sp>
        <p:nvSpPr>
          <p:cNvPr id="31" name="Text 27"/>
          <p:cNvSpPr txBox="1"/>
          <p:nvPr/>
        </p:nvSpPr>
        <p:spPr>
          <a:xfrm>
            <a:off x="8485632" y="4572000"/>
            <a:ext cx="411480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Limits and what's next</a:t>
            </a:r>
            <a:endParaRPr lang="en-US" sz="2100" dirty="0"/>
          </a:p>
        </p:txBody>
      </p:sp>
      <p:sp>
        <p:nvSpPr>
          <p:cNvPr id="32" name="Text 28"/>
          <p:cNvSpPr txBox="1"/>
          <p:nvPr/>
        </p:nvSpPr>
        <p:spPr>
          <a:xfrm>
            <a:off x="8485632" y="4992624"/>
            <a:ext cx="4937760" cy="53035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Where this genuinely stands</a:t>
            </a:r>
            <a:endParaRPr lang="en-US" sz="1600" dirty="0"/>
          </a:p>
        </p:txBody>
      </p:sp>
      <p:sp>
        <p:nvSpPr>
          <p:cNvPr id="33" name="Text 29"/>
          <p:cNvSpPr txBox="1"/>
          <p:nvPr/>
        </p:nvSpPr>
        <p:spPr>
          <a:xfrm>
            <a:off x="13533120" y="4608576"/>
            <a:ext cx="868680" cy="329184"/>
          </a:xfrm>
          <a:prstGeom prst="rect">
            <a:avLst/>
          </a:prstGeom>
          <a:noFill/>
          <a:ln/>
        </p:spPr>
        <p:txBody>
          <a:bodyPr wrap="square" lIns="0" tIns="0" rIns="0" bIns="0" rtlCol="0" anchor="t"/>
          <a:lstStyle/>
          <a:p>
            <a:pPr algn="r" indent="0" marL="0">
              <a:buNone/>
            </a:pPr>
            <a:r>
              <a:rPr lang="en-US" sz="1400" dirty="0">
                <a:solidFill>
                  <a:srgbClr val="C6C2F2"/>
                </a:solidFill>
                <a:latin typeface="Equip" pitchFamily="34" charset="0"/>
                <a:ea typeface="Equip" pitchFamily="34" charset="-122"/>
                <a:cs typeface="Equip" pitchFamily="34" charset="-120"/>
              </a:rPr>
              <a:t>~4 min</a:t>
            </a:r>
            <a:endParaRPr lang="en-US" sz="1400" dirty="0"/>
          </a:p>
        </p:txBody>
      </p:sp>
      <p:sp>
        <p:nvSpPr>
          <p:cNvPr id="34" name="Text 30"/>
          <p:cNvSpPr txBox="1"/>
          <p:nvPr/>
        </p:nvSpPr>
        <p:spPr>
          <a:xfrm>
            <a:off x="822960" y="6720840"/>
            <a:ext cx="12984480" cy="457200"/>
          </a:xfrm>
          <a:prstGeom prst="rect">
            <a:avLst/>
          </a:prstGeom>
          <a:noFill/>
          <a:ln/>
        </p:spPr>
        <p:txBody>
          <a:bodyPr wrap="square" lIns="0" tIns="0" rIns="0" bIns="0" rtlCol="0" anchor="ctr"/>
          <a:lstStyle/>
          <a:p>
            <a:pPr indent="0" marL="0">
              <a:buNone/>
            </a:pPr>
            <a:r>
              <a:rPr lang="en-US" sz="1700" i="1" dirty="0">
                <a:solidFill>
                  <a:srgbClr val="47D7AC"/>
                </a:solidFill>
                <a:latin typeface="Equip" pitchFamily="34" charset="0"/>
                <a:ea typeface="Equip" pitchFamily="34" charset="-122"/>
                <a:cs typeface="Equip" pitchFamily="34" charset="-120"/>
              </a:rPr>
              <a:t>The demo is the middle of the talk, not the end of it. Everything before it is setup; everything after it is honesty.</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THE PROBLEM</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It's 3 AM. Everything is red.</a:t>
            </a:r>
            <a:endParaRPr lang="en-US" sz="3800" dirty="0"/>
          </a:p>
        </p:txBody>
      </p:sp>
      <p:sp>
        <p:nvSpPr>
          <p:cNvPr id="6" name="Shape 2"/>
          <p:cNvSpPr/>
          <p:nvPr/>
        </p:nvSpPr>
        <p:spPr>
          <a:xfrm>
            <a:off x="822960" y="2286000"/>
            <a:ext cx="347472" cy="347472"/>
          </a:xfrm>
          <a:prstGeom prst="ellipse">
            <a:avLst/>
          </a:prstGeom>
          <a:solidFill>
            <a:srgbClr val="FFFFFF">
              <a:alpha val="12000"/>
            </a:srgbClr>
          </a:solidFill>
          <a:ln w="25400">
            <a:solidFill>
              <a:srgbClr val="FF7A6B"/>
            </a:solidFill>
            <a:prstDash val="solid"/>
          </a:ln>
        </p:spPr>
      </p:sp>
      <p:sp>
        <p:nvSpPr>
          <p:cNvPr id="7" name="Text 3"/>
          <p:cNvSpPr txBox="1"/>
          <p:nvPr/>
        </p:nvSpPr>
        <p:spPr>
          <a:xfrm>
            <a:off x="822960" y="2286000"/>
            <a:ext cx="347472" cy="347472"/>
          </a:xfrm>
          <a:prstGeom prst="rect">
            <a:avLst/>
          </a:prstGeom>
          <a:noFill/>
          <a:ln/>
        </p:spPr>
        <p:txBody>
          <a:bodyPr wrap="square" lIns="0" tIns="0" rIns="0" bIns="0" rtlCol="0" anchor="ctr"/>
          <a:lstStyle/>
          <a:p>
            <a:pPr algn="ctr" indent="0" marL="0">
              <a:buNone/>
            </a:pPr>
            <a:r>
              <a:rPr lang="en-US" sz="1500" b="1" dirty="0">
                <a:solidFill>
                  <a:srgbClr val="FF7A6B"/>
                </a:solidFill>
                <a:latin typeface="Equip" pitchFamily="34" charset="0"/>
                <a:ea typeface="Equip" pitchFamily="34" charset="-122"/>
                <a:cs typeface="Equip" pitchFamily="34" charset="-120"/>
              </a:rPr>
              <a:t>1</a:t>
            </a:r>
            <a:endParaRPr lang="en-US" sz="1500" dirty="0"/>
          </a:p>
        </p:txBody>
      </p:sp>
      <p:sp>
        <p:nvSpPr>
          <p:cNvPr id="8" name="Text 4"/>
          <p:cNvSpPr txBox="1"/>
          <p:nvPr/>
        </p:nvSpPr>
        <p:spPr>
          <a:xfrm>
            <a:off x="1353312" y="2240280"/>
            <a:ext cx="603504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The page fires</a:t>
            </a:r>
            <a:endParaRPr lang="en-US" sz="2100" dirty="0"/>
          </a:p>
        </p:txBody>
      </p:sp>
      <p:sp>
        <p:nvSpPr>
          <p:cNvPr id="9" name="Text 5"/>
          <p:cNvSpPr txBox="1"/>
          <p:nvPr/>
        </p:nvSpPr>
        <p:spPr>
          <a:xfrm>
            <a:off x="1353312" y="2660904"/>
            <a:ext cx="6126480" cy="62179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Checkout is failing. Most orders are erroring.</a:t>
            </a:r>
            <a:endParaRPr lang="en-US" sz="1600" dirty="0"/>
          </a:p>
        </p:txBody>
      </p:sp>
      <p:sp>
        <p:nvSpPr>
          <p:cNvPr id="10" name="Shape 6"/>
          <p:cNvSpPr/>
          <p:nvPr/>
        </p:nvSpPr>
        <p:spPr>
          <a:xfrm>
            <a:off x="822960" y="3456432"/>
            <a:ext cx="347472" cy="347472"/>
          </a:xfrm>
          <a:prstGeom prst="ellipse">
            <a:avLst/>
          </a:prstGeom>
          <a:solidFill>
            <a:srgbClr val="FFFFFF">
              <a:alpha val="12000"/>
            </a:srgbClr>
          </a:solidFill>
          <a:ln w="25400">
            <a:solidFill>
              <a:srgbClr val="FFC94D"/>
            </a:solidFill>
            <a:prstDash val="solid"/>
          </a:ln>
        </p:spPr>
      </p:sp>
      <p:sp>
        <p:nvSpPr>
          <p:cNvPr id="11" name="Text 7"/>
          <p:cNvSpPr txBox="1"/>
          <p:nvPr/>
        </p:nvSpPr>
        <p:spPr>
          <a:xfrm>
            <a:off x="822960" y="3456432"/>
            <a:ext cx="347472" cy="347472"/>
          </a:xfrm>
          <a:prstGeom prst="rect">
            <a:avLst/>
          </a:prstGeom>
          <a:noFill/>
          <a:ln/>
        </p:spPr>
        <p:txBody>
          <a:bodyPr wrap="square" lIns="0" tIns="0" rIns="0" bIns="0" rtlCol="0" anchor="ctr"/>
          <a:lstStyle/>
          <a:p>
            <a:pPr algn="ctr" indent="0" marL="0">
              <a:buNone/>
            </a:pPr>
            <a:r>
              <a:rPr lang="en-US" sz="1500" b="1" dirty="0">
                <a:solidFill>
                  <a:srgbClr val="FFC94D"/>
                </a:solidFill>
                <a:latin typeface="Equip" pitchFamily="34" charset="0"/>
                <a:ea typeface="Equip" pitchFamily="34" charset="-122"/>
                <a:cs typeface="Equip" pitchFamily="34" charset="-120"/>
              </a:rPr>
              <a:t>2</a:t>
            </a:r>
            <a:endParaRPr lang="en-US" sz="1500" dirty="0"/>
          </a:p>
        </p:txBody>
      </p:sp>
      <p:sp>
        <p:nvSpPr>
          <p:cNvPr id="12" name="Text 8"/>
          <p:cNvSpPr txBox="1"/>
          <p:nvPr/>
        </p:nvSpPr>
        <p:spPr>
          <a:xfrm>
            <a:off x="1353312" y="3410712"/>
            <a:ext cx="603504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The dashboard is useless</a:t>
            </a:r>
            <a:endParaRPr lang="en-US" sz="2100" dirty="0"/>
          </a:p>
        </p:txBody>
      </p:sp>
      <p:sp>
        <p:nvSpPr>
          <p:cNvPr id="13" name="Text 9"/>
          <p:cNvSpPr txBox="1"/>
          <p:nvPr/>
        </p:nvSpPr>
        <p:spPr>
          <a:xfrm>
            <a:off x="1353312" y="3831336"/>
            <a:ext cx="6126480" cy="62179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Six services are red — all downstream of each other.</a:t>
            </a:r>
            <a:endParaRPr lang="en-US" sz="1600" dirty="0"/>
          </a:p>
        </p:txBody>
      </p:sp>
      <p:sp>
        <p:nvSpPr>
          <p:cNvPr id="14" name="Shape 10"/>
          <p:cNvSpPr/>
          <p:nvPr/>
        </p:nvSpPr>
        <p:spPr>
          <a:xfrm>
            <a:off x="822960" y="4626864"/>
            <a:ext cx="347472" cy="347472"/>
          </a:xfrm>
          <a:prstGeom prst="ellipse">
            <a:avLst/>
          </a:prstGeom>
          <a:solidFill>
            <a:srgbClr val="FFFFFF">
              <a:alpha val="12000"/>
            </a:srgbClr>
          </a:solidFill>
          <a:ln w="25400">
            <a:solidFill>
              <a:srgbClr val="FFC94D"/>
            </a:solidFill>
            <a:prstDash val="solid"/>
          </a:ln>
        </p:spPr>
      </p:sp>
      <p:sp>
        <p:nvSpPr>
          <p:cNvPr id="15" name="Text 11"/>
          <p:cNvSpPr txBox="1"/>
          <p:nvPr/>
        </p:nvSpPr>
        <p:spPr>
          <a:xfrm>
            <a:off x="822960" y="4626864"/>
            <a:ext cx="347472" cy="347472"/>
          </a:xfrm>
          <a:prstGeom prst="rect">
            <a:avLst/>
          </a:prstGeom>
          <a:noFill/>
          <a:ln/>
        </p:spPr>
        <p:txBody>
          <a:bodyPr wrap="square" lIns="0" tIns="0" rIns="0" bIns="0" rtlCol="0" anchor="ctr"/>
          <a:lstStyle/>
          <a:p>
            <a:pPr algn="ctr" indent="0" marL="0">
              <a:buNone/>
            </a:pPr>
            <a:r>
              <a:rPr lang="en-US" sz="1500" b="1" dirty="0">
                <a:solidFill>
                  <a:srgbClr val="FFC94D"/>
                </a:solidFill>
                <a:latin typeface="Equip" pitchFamily="34" charset="0"/>
                <a:ea typeface="Equip" pitchFamily="34" charset="-122"/>
                <a:cs typeface="Equip" pitchFamily="34" charset="-120"/>
              </a:rPr>
              <a:t>3</a:t>
            </a:r>
            <a:endParaRPr lang="en-US" sz="1500" dirty="0"/>
          </a:p>
        </p:txBody>
      </p:sp>
      <p:sp>
        <p:nvSpPr>
          <p:cNvPr id="16" name="Text 12"/>
          <p:cNvSpPr txBox="1"/>
          <p:nvPr/>
        </p:nvSpPr>
        <p:spPr>
          <a:xfrm>
            <a:off x="1353312" y="4581144"/>
            <a:ext cx="603504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You start guessing</a:t>
            </a:r>
            <a:endParaRPr lang="en-US" sz="2100" dirty="0"/>
          </a:p>
        </p:txBody>
      </p:sp>
      <p:sp>
        <p:nvSpPr>
          <p:cNvPr id="17" name="Text 13"/>
          <p:cNvSpPr txBox="1"/>
          <p:nvPr/>
        </p:nvSpPr>
        <p:spPr>
          <a:xfrm>
            <a:off x="1353312" y="5001768"/>
            <a:ext cx="6126480" cy="62179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order-api has the most errors. You start there. It is healthy.</a:t>
            </a:r>
            <a:endParaRPr lang="en-US" sz="1600" dirty="0"/>
          </a:p>
        </p:txBody>
      </p:sp>
      <p:sp>
        <p:nvSpPr>
          <p:cNvPr id="18" name="Shape 14"/>
          <p:cNvSpPr/>
          <p:nvPr/>
        </p:nvSpPr>
        <p:spPr>
          <a:xfrm>
            <a:off x="822960" y="5797296"/>
            <a:ext cx="347472" cy="347472"/>
          </a:xfrm>
          <a:prstGeom prst="ellipse">
            <a:avLst/>
          </a:prstGeom>
          <a:solidFill>
            <a:srgbClr val="FFFFFF">
              <a:alpha val="12000"/>
            </a:srgbClr>
          </a:solidFill>
          <a:ln w="25400">
            <a:solidFill>
              <a:srgbClr val="47D7AC"/>
            </a:solidFill>
            <a:prstDash val="solid"/>
          </a:ln>
        </p:spPr>
      </p:sp>
      <p:sp>
        <p:nvSpPr>
          <p:cNvPr id="19" name="Text 15"/>
          <p:cNvSpPr txBox="1"/>
          <p:nvPr/>
        </p:nvSpPr>
        <p:spPr>
          <a:xfrm>
            <a:off x="822960" y="5797296"/>
            <a:ext cx="347472" cy="347472"/>
          </a:xfrm>
          <a:prstGeom prst="rect">
            <a:avLst/>
          </a:prstGeom>
          <a:noFill/>
          <a:ln/>
        </p:spPr>
        <p:txBody>
          <a:bodyPr wrap="square" lIns="0" tIns="0" rIns="0" bIns="0" rtlCol="0" anchor="ctr"/>
          <a:lstStyle/>
          <a:p>
            <a:pPr algn="ctr" indent="0" marL="0">
              <a:buNone/>
            </a:pPr>
            <a:r>
              <a:rPr lang="en-US" sz="1500" b="1" dirty="0">
                <a:solidFill>
                  <a:srgbClr val="47D7AC"/>
                </a:solidFill>
                <a:latin typeface="Equip" pitchFamily="34" charset="0"/>
                <a:ea typeface="Equip" pitchFamily="34" charset="-122"/>
                <a:cs typeface="Equip" pitchFamily="34" charset="-120"/>
              </a:rPr>
              <a:t>4</a:t>
            </a:r>
            <a:endParaRPr lang="en-US" sz="1500" dirty="0"/>
          </a:p>
        </p:txBody>
      </p:sp>
      <p:sp>
        <p:nvSpPr>
          <p:cNvPr id="20" name="Text 16"/>
          <p:cNvSpPr txBox="1"/>
          <p:nvPr/>
        </p:nvSpPr>
        <p:spPr>
          <a:xfrm>
            <a:off x="1353312" y="5751576"/>
            <a:ext cx="6035040" cy="384048"/>
          </a:xfrm>
          <a:prstGeom prst="rect">
            <a:avLst/>
          </a:prstGeom>
          <a:noFill/>
          <a:ln/>
        </p:spPr>
        <p:txBody>
          <a:bodyPr wrap="square" lIns="0" tIns="0" rIns="0" bIns="0" rtlCol="0" anchor="t"/>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The real cause is silent</a:t>
            </a:r>
            <a:endParaRPr lang="en-US" sz="2100" dirty="0"/>
          </a:p>
        </p:txBody>
      </p:sp>
      <p:sp>
        <p:nvSpPr>
          <p:cNvPr id="21" name="Text 17"/>
          <p:cNvSpPr txBox="1"/>
          <p:nvPr/>
        </p:nvSpPr>
        <p:spPr>
          <a:xfrm>
            <a:off x="1353312" y="6172200"/>
            <a:ext cx="6126480" cy="62179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A config value changed 20 minutes ago. It logged nothing.</a:t>
            </a:r>
            <a:endParaRPr lang="en-US" sz="1600" dirty="0"/>
          </a:p>
        </p:txBody>
      </p:sp>
      <p:pic>
        <p:nvPicPr>
          <p:cNvPr id="22" name="Image 2" descr="preencoded.png">    </p:cNvPr>
          <p:cNvPicPr>
            <a:picLocks noChangeAspect="1"/>
          </p:cNvPicPr>
          <p:nvPr/>
        </p:nvPicPr>
        <p:blipFill>
          <a:blip r:embed="rId3"/>
          <a:stretch>
            <a:fillRect/>
          </a:stretch>
        </p:blipFill>
        <p:spPr>
          <a:xfrm>
            <a:off x="7818120" y="2240280"/>
            <a:ext cx="5943600" cy="3438144"/>
          </a:xfrm>
          <a:prstGeom prst="rect">
            <a:avLst/>
          </a:prstGeom>
        </p:spPr>
      </p:pic>
      <p:sp>
        <p:nvSpPr>
          <p:cNvPr id="23" name="Text 18"/>
          <p:cNvSpPr txBox="1"/>
          <p:nvPr/>
        </p:nvSpPr>
        <p:spPr>
          <a:xfrm>
            <a:off x="7818120" y="5897880"/>
            <a:ext cx="6035040" cy="731520"/>
          </a:xfrm>
          <a:prstGeom prst="rect">
            <a:avLst/>
          </a:prstGeom>
          <a:noFill/>
          <a:ln/>
        </p:spPr>
        <p:txBody>
          <a:bodyPr wrap="square" lIns="0" tIns="0" rIns="0" bIns="0" rtlCol="0" anchor="ctr"/>
          <a:lstStyle/>
          <a:p>
            <a:pPr indent="0" marL="0">
              <a:buNone/>
            </a:pPr>
            <a:r>
              <a:rPr lang="en-US" sz="1900" i="1" dirty="0">
                <a:solidFill>
                  <a:srgbClr val="FFC94D"/>
                </a:solidFill>
                <a:latin typeface="Equip" pitchFamily="34" charset="0"/>
                <a:ea typeface="Equip" pitchFamily="34" charset="-122"/>
                <a:cs typeface="Equip" pitchFamily="34" charset="-120"/>
              </a:rPr>
              <a:t>The expensive part of an incident is not the fix. It is the search.</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WHY LOG SEARCH CANNOT WIN</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The cause never wrote a log line</a:t>
            </a:r>
            <a:endParaRPr lang="en-US" sz="3800" dirty="0"/>
          </a:p>
        </p:txBody>
      </p:sp>
      <p:pic>
        <p:nvPicPr>
          <p:cNvPr id="6" name="Image 2" descr="preencoded.png">    </p:cNvPr>
          <p:cNvPicPr>
            <a:picLocks noChangeAspect="1"/>
          </p:cNvPicPr>
          <p:nvPr/>
        </p:nvPicPr>
        <p:blipFill>
          <a:blip r:embed="rId3"/>
          <a:stretch>
            <a:fillRect/>
          </a:stretch>
        </p:blipFill>
        <p:spPr>
          <a:xfrm>
            <a:off x="3017520" y="2148840"/>
            <a:ext cx="9235440" cy="3867912"/>
          </a:xfrm>
          <a:prstGeom prst="rect">
            <a:avLst/>
          </a:prstGeom>
        </p:spPr>
      </p:pic>
      <p:sp>
        <p:nvSpPr>
          <p:cNvPr id="7" name="Text 2"/>
          <p:cNvSpPr txBox="1"/>
          <p:nvPr/>
        </p:nvSpPr>
        <p:spPr>
          <a:xfrm>
            <a:off x="3017520" y="6172200"/>
            <a:ext cx="9235440" cy="731520"/>
          </a:xfrm>
          <a:prstGeom prst="rect">
            <a:avLst/>
          </a:prstGeom>
          <a:noFill/>
          <a:ln/>
        </p:spPr>
        <p:txBody>
          <a:bodyPr wrap="square" lIns="0" tIns="0" rIns="0" bIns="0" rtlCol="0" anchor="ctr"/>
          <a:lstStyle/>
          <a:p>
            <a:pPr algn="ctr" indent="0" marL="0">
              <a:buNone/>
            </a:pPr>
            <a:r>
              <a:rPr lang="en-US" sz="1700" dirty="0">
                <a:solidFill>
                  <a:srgbClr val="C6C2F2"/>
                </a:solidFill>
                <a:latin typeface="Equip" pitchFamily="34" charset="0"/>
                <a:ea typeface="Equip" pitchFamily="34" charset="-122"/>
                <a:cs typeface="Equip" pitchFamily="34" charset="-120"/>
              </a:rPr>
              <a:t>Config, capacity and topology do not emit errors. There is no text to retrieve — so no amount of log search, and no better model, reaches the answer.</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THE SHIFT</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From retrieving text to traversing structure</a:t>
            </a:r>
            <a:endParaRPr lang="en-US" sz="3800" dirty="0"/>
          </a:p>
        </p:txBody>
      </p:sp>
      <p:pic>
        <p:nvPicPr>
          <p:cNvPr id="6" name="Image 2" descr="preencoded.png">    </p:cNvPr>
          <p:cNvPicPr>
            <a:picLocks noChangeAspect="1"/>
          </p:cNvPicPr>
          <p:nvPr/>
        </p:nvPicPr>
        <p:blipFill>
          <a:blip r:embed="rId3"/>
          <a:stretch>
            <a:fillRect/>
          </a:stretch>
        </p:blipFill>
        <p:spPr>
          <a:xfrm>
            <a:off x="822960" y="2103120"/>
            <a:ext cx="12984480" cy="3118104"/>
          </a:xfrm>
          <a:prstGeom prst="rect">
            <a:avLst/>
          </a:prstGeom>
        </p:spPr>
      </p:pic>
      <p:sp>
        <p:nvSpPr>
          <p:cNvPr id="7" name="Text 2"/>
          <p:cNvSpPr txBox="1"/>
          <p:nvPr/>
        </p:nvSpPr>
        <p:spPr>
          <a:xfrm>
            <a:off x="822960" y="5486400"/>
            <a:ext cx="12984480" cy="1188720"/>
          </a:xfrm>
          <a:prstGeom prst="rect">
            <a:avLst/>
          </a:prstGeom>
          <a:noFill/>
          <a:ln/>
        </p:spPr>
        <p:txBody>
          <a:bodyPr wrap="square" lIns="0" tIns="0" rIns="0" bIns="0" rtlCol="0" anchor="ctr"/>
          <a:lstStyle/>
          <a:p>
            <a:pPr indent="0" marL="0">
              <a:lnSpc>
                <a:spcPct val="135000"/>
              </a:lnSpc>
              <a:buNone/>
            </a:pPr>
            <a:r>
              <a:rPr lang="en-US" sz="2100" dirty="0">
                <a:solidFill>
                  <a:srgbClr val="C6C2F2"/>
                </a:solidFill>
                <a:latin typeface="Equip" pitchFamily="34" charset="0"/>
                <a:ea typeface="Equip" pitchFamily="34" charset="-122"/>
                <a:cs typeface="Equip" pitchFamily="34" charset="-120"/>
              </a:rPr>
              <a:t>RAG asks:   </a:t>
            </a:r>
            <a:pPr indent="0" marL="0">
              <a:lnSpc>
                <a:spcPct val="135000"/>
              </a:lnSpc>
              <a:buNone/>
            </a:pPr>
            <a:r>
              <a:rPr lang="en-US" sz="2100" dirty="0">
                <a:solidFill>
                  <a:srgbClr val="FFFFFF"/>
                </a:solidFill>
                <a:latin typeface="Equip" pitchFamily="34" charset="0"/>
                <a:ea typeface="Equip" pitchFamily="34" charset="-122"/>
                <a:cs typeface="Equip" pitchFamily="34" charset="-120"/>
              </a:rPr>
              <a:t>“What text resembles my question?”</a:t>
            </a:r>
            <a:endParaRPr lang="en-US" sz="2100" dirty="0"/>
          </a:p>
          <a:p>
            <a:pPr indent="0" marL="0">
              <a:lnSpc>
                <a:spcPct val="135000"/>
              </a:lnSpc>
              <a:buNone/>
            </a:pPr>
            <a:r>
              <a:rPr lang="en-US" sz="2100" dirty="0">
                <a:solidFill>
                  <a:srgbClr val="C6C2F2"/>
                </a:solidFill>
                <a:latin typeface="Equip" pitchFamily="34" charset="0"/>
                <a:ea typeface="Equip" pitchFamily="34" charset="-122"/>
                <a:cs typeface="Equip" pitchFamily="34" charset="-120"/>
              </a:rPr>
              <a:t>KAG asks:   </a:t>
            </a:r>
            <a:pPr indent="0" marL="0">
              <a:lnSpc>
                <a:spcPct val="135000"/>
              </a:lnSpc>
              <a:buNone/>
            </a:pPr>
            <a:r>
              <a:rPr lang="en-US" sz="2100" b="1" dirty="0">
                <a:solidFill>
                  <a:srgbClr val="47D7AC"/>
                </a:solidFill>
                <a:latin typeface="Equip" pitchFamily="34" charset="0"/>
                <a:ea typeface="Equip" pitchFamily="34" charset="-122"/>
                <a:cs typeface="Equip" pitchFamily="34" charset="-120"/>
              </a:rPr>
              <a:t>“What could have produced exactly these symptoms?”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FOUNDATIONS  ·  1 OF 2</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What OpenTelemetry actually gives you</a:t>
            </a:r>
            <a:endParaRPr lang="en-US" sz="3800" dirty="0"/>
          </a:p>
        </p:txBody>
      </p:sp>
      <p:pic>
        <p:nvPicPr>
          <p:cNvPr id="6" name="Image 2" descr="preencoded.png">    </p:cNvPr>
          <p:cNvPicPr>
            <a:picLocks noChangeAspect="1"/>
          </p:cNvPicPr>
          <p:nvPr/>
        </p:nvPicPr>
        <p:blipFill>
          <a:blip r:embed="rId3"/>
          <a:stretch>
            <a:fillRect/>
          </a:stretch>
        </p:blipFill>
        <p:spPr>
          <a:xfrm>
            <a:off x="822960" y="2103120"/>
            <a:ext cx="12984480" cy="4123944"/>
          </a:xfrm>
          <a:prstGeom prst="rect">
            <a:avLst/>
          </a:prstGeom>
        </p:spPr>
      </p:pic>
      <p:sp>
        <p:nvSpPr>
          <p:cNvPr id="7" name="Text 2"/>
          <p:cNvSpPr txBox="1"/>
          <p:nvPr/>
        </p:nvSpPr>
        <p:spPr>
          <a:xfrm>
            <a:off x="822960" y="6400800"/>
            <a:ext cx="12984480" cy="777240"/>
          </a:xfrm>
          <a:prstGeom prst="rect">
            <a:avLst/>
          </a:prstGeom>
          <a:noFill/>
          <a:ln/>
        </p:spPr>
        <p:txBody>
          <a:bodyPr wrap="square" lIns="0" tIns="0" rIns="0" bIns="0" rtlCol="0" anchor="ctr"/>
          <a:lstStyle/>
          <a:p>
            <a:pPr indent="0" marL="0">
              <a:lnSpc>
                <a:spcPct val="115000"/>
              </a:lnSpc>
              <a:buNone/>
            </a:pPr>
            <a:r>
              <a:rPr lang="en-US" sz="1700" dirty="0">
                <a:solidFill>
                  <a:srgbClr val="C6C2F2"/>
                </a:solidFill>
                <a:latin typeface="Equip" pitchFamily="34" charset="0"/>
                <a:ea typeface="Equip" pitchFamily="34" charset="-122"/>
                <a:cs typeface="Equip" pitchFamily="34" charset="-120"/>
              </a:rPr>
              <a:t>A span is one unit of work. A trace is a tree of spans sharing one id. Context propagation carries that id across process boundaries — including the message broker. None of this required a line of instrumentation code.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FOUNDATIONS  ·  2 OF 2</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Observability tells you WHAT. Not WHY.</a:t>
            </a:r>
            <a:endParaRPr lang="en-US" sz="3800" dirty="0"/>
          </a:p>
        </p:txBody>
      </p:sp>
      <p:pic>
        <p:nvPicPr>
          <p:cNvPr id="6" name="Image 2" descr="preencoded.png">    </p:cNvPr>
          <p:cNvPicPr>
            <a:picLocks noChangeAspect="1"/>
          </p:cNvPicPr>
          <p:nvPr/>
        </p:nvPicPr>
        <p:blipFill>
          <a:blip r:embed="rId3"/>
          <a:stretch>
            <a:fillRect/>
          </a:stretch>
        </p:blipFill>
        <p:spPr>
          <a:xfrm>
            <a:off x="822960" y="2148840"/>
            <a:ext cx="12984480" cy="3877056"/>
          </a:xfrm>
          <a:prstGeom prst="rect">
            <a:avLst/>
          </a:prstGeom>
        </p:spPr>
      </p:pic>
      <p:sp>
        <p:nvSpPr>
          <p:cNvPr id="7" name="Text 2"/>
          <p:cNvSpPr txBox="1"/>
          <p:nvPr/>
        </p:nvSpPr>
        <p:spPr>
          <a:xfrm>
            <a:off x="822960" y="6217920"/>
            <a:ext cx="12984480" cy="777240"/>
          </a:xfrm>
          <a:prstGeom prst="rect">
            <a:avLst/>
          </a:prstGeom>
          <a:noFill/>
          <a:ln/>
        </p:spPr>
        <p:txBody>
          <a:bodyPr wrap="square" lIns="0" tIns="0" rIns="0" bIns="0" rtlCol="0" anchor="ctr"/>
          <a:lstStyle/>
          <a:p>
            <a:pPr indent="0" marL="0">
              <a:lnSpc>
                <a:spcPct val="115000"/>
              </a:lnSpc>
              <a:buNone/>
            </a:pPr>
            <a:r>
              <a:rPr lang="en-US" sz="1700" dirty="0">
                <a:solidFill>
                  <a:srgbClr val="C6C2F2"/>
                </a:solidFill>
                <a:latin typeface="Equip" pitchFamily="34" charset="0"/>
                <a:ea typeface="Equip" pitchFamily="34" charset="-122"/>
                <a:cs typeface="Equip" pitchFamily="34" charset="-120"/>
              </a:rPr>
              <a:t>Telemetry is a record of what happened. Diagnosis needs what changed, what depends on what, and which single change explains every symptom — and none of that lives in a log line.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25 MINUTES</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Live demo — the system we're about to break</a:t>
            </a:r>
            <a:endParaRPr lang="en-US" sz="3800" dirty="0"/>
          </a:p>
        </p:txBody>
      </p:sp>
      <p:pic>
        <p:nvPicPr>
          <p:cNvPr id="6" name="Image 2" descr="preencoded.png">    </p:cNvPr>
          <p:cNvPicPr>
            <a:picLocks noChangeAspect="1"/>
          </p:cNvPicPr>
          <p:nvPr/>
        </p:nvPicPr>
        <p:blipFill>
          <a:blip r:embed="rId3"/>
          <a:stretch>
            <a:fillRect/>
          </a:stretch>
        </p:blipFill>
        <p:spPr>
          <a:xfrm>
            <a:off x="822960" y="2194560"/>
            <a:ext cx="6858000" cy="3383280"/>
          </a:xfrm>
          <a:prstGeom prst="rect">
            <a:avLst/>
          </a:prstGeom>
        </p:spPr>
      </p:pic>
      <p:sp>
        <p:nvSpPr>
          <p:cNvPr id="7" name="Text 2"/>
          <p:cNvSpPr txBox="1"/>
          <p:nvPr/>
        </p:nvSpPr>
        <p:spPr>
          <a:xfrm>
            <a:off x="822960" y="5669280"/>
            <a:ext cx="6858000" cy="411480"/>
          </a:xfrm>
          <a:prstGeom prst="rect">
            <a:avLst/>
          </a:prstGeom>
          <a:noFill/>
          <a:ln/>
        </p:spPr>
        <p:txBody>
          <a:bodyPr wrap="square" lIns="0" tIns="0" rIns="0" bIns="0" rtlCol="0" anchor="ctr"/>
          <a:lstStyle/>
          <a:p>
            <a:pPr algn="ctr" indent="0" marL="0">
              <a:buNone/>
            </a:pPr>
            <a:r>
              <a:rPr lang="en-US" sz="1600" dirty="0">
                <a:solidFill>
                  <a:srgbClr val="C6C2F2"/>
                </a:solidFill>
                <a:latin typeface="Equip" pitchFamily="34" charset="0"/>
                <a:ea typeface="Equip" pitchFamily="34" charset="-122"/>
                <a:cs typeface="Equip" pitchFamily="34" charset="-120"/>
              </a:rPr>
              <a:t>One fault. Two symptoms, in places that look unrelated.</a:t>
            </a:r>
            <a:endParaRPr lang="en-US" sz="1600" dirty="0"/>
          </a:p>
        </p:txBody>
      </p:sp>
      <p:sp>
        <p:nvSpPr>
          <p:cNvPr id="8" name="Shape 3"/>
          <p:cNvSpPr/>
          <p:nvPr/>
        </p:nvSpPr>
        <p:spPr>
          <a:xfrm>
            <a:off x="8275320" y="2386584"/>
            <a:ext cx="274320" cy="274320"/>
          </a:xfrm>
          <a:prstGeom prst="ellipse">
            <a:avLst/>
          </a:prstGeom>
          <a:solidFill>
            <a:srgbClr val="FF7A6B"/>
          </a:solidFill>
          <a:ln/>
        </p:spPr>
      </p:sp>
      <p:sp>
        <p:nvSpPr>
          <p:cNvPr id="9" name="Text 4"/>
          <p:cNvSpPr txBox="1"/>
          <p:nvPr/>
        </p:nvSpPr>
        <p:spPr>
          <a:xfrm>
            <a:off x="8705088" y="2331720"/>
            <a:ext cx="5669280" cy="384048"/>
          </a:xfrm>
          <a:prstGeom prst="rect">
            <a:avLst/>
          </a:prstGeom>
          <a:noFill/>
          <a:ln/>
        </p:spPr>
        <p:txBody>
          <a:bodyPr wrap="square" lIns="0" tIns="0" rIns="0" bIns="0" rtlCol="0" anchor="t"/>
          <a:lstStyle/>
          <a:p>
            <a:pPr indent="0" marL="0">
              <a:buNone/>
            </a:pPr>
            <a:r>
              <a:rPr lang="en-US" sz="2000" dirty="0">
                <a:solidFill>
                  <a:srgbClr val="FFFFFF"/>
                </a:solidFill>
                <a:latin typeface="Equip Extended Medium" pitchFamily="34" charset="0"/>
                <a:ea typeface="Equip Extended Medium" pitchFamily="34" charset="-122"/>
                <a:cs typeface="Equip Extended Medium" pitchFamily="34" charset="-120"/>
              </a:rPr>
              <a:t>Run the baseline first</a:t>
            </a:r>
            <a:endParaRPr lang="en-US" sz="2000" dirty="0"/>
          </a:p>
        </p:txBody>
      </p:sp>
      <p:sp>
        <p:nvSpPr>
          <p:cNvPr id="10" name="Text 5"/>
          <p:cNvSpPr txBox="1"/>
          <p:nvPr/>
        </p:nvSpPr>
        <p:spPr>
          <a:xfrm>
            <a:off x="8705088" y="2752344"/>
            <a:ext cx="5669280" cy="640080"/>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Every line it can see says order-api. Let the room read it.</a:t>
            </a:r>
            <a:endParaRPr lang="en-US" sz="1600" dirty="0"/>
          </a:p>
        </p:txBody>
      </p:sp>
      <p:sp>
        <p:nvSpPr>
          <p:cNvPr id="11" name="Shape 6"/>
          <p:cNvSpPr/>
          <p:nvPr/>
        </p:nvSpPr>
        <p:spPr>
          <a:xfrm>
            <a:off x="8275320" y="3593592"/>
            <a:ext cx="274320" cy="274320"/>
          </a:xfrm>
          <a:prstGeom prst="ellipse">
            <a:avLst/>
          </a:prstGeom>
          <a:solidFill>
            <a:srgbClr val="FFC94D"/>
          </a:solidFill>
          <a:ln/>
        </p:spPr>
      </p:sp>
      <p:sp>
        <p:nvSpPr>
          <p:cNvPr id="12" name="Text 7"/>
          <p:cNvSpPr txBox="1"/>
          <p:nvPr/>
        </p:nvSpPr>
        <p:spPr>
          <a:xfrm>
            <a:off x="8705088" y="3538728"/>
            <a:ext cx="5669280" cy="384048"/>
          </a:xfrm>
          <a:prstGeom prst="rect">
            <a:avLst/>
          </a:prstGeom>
          <a:noFill/>
          <a:ln/>
        </p:spPr>
        <p:txBody>
          <a:bodyPr wrap="square" lIns="0" tIns="0" rIns="0" bIns="0" rtlCol="0" anchor="t"/>
          <a:lstStyle/>
          <a:p>
            <a:pPr indent="0" marL="0">
              <a:buNone/>
            </a:pPr>
            <a:r>
              <a:rPr lang="en-US" sz="2000" dirty="0">
                <a:solidFill>
                  <a:srgbClr val="FFFFFF"/>
                </a:solidFill>
                <a:latin typeface="Equip Extended Medium" pitchFamily="34" charset="0"/>
                <a:ea typeface="Equip Extended Medium" pitchFamily="34" charset="-122"/>
                <a:cs typeface="Equip Extended Medium" pitchFamily="34" charset="-120"/>
              </a:rPr>
              <a:t>Watch the stages tick</a:t>
            </a:r>
            <a:endParaRPr lang="en-US" sz="2000" dirty="0"/>
          </a:p>
        </p:txBody>
      </p:sp>
      <p:sp>
        <p:nvSpPr>
          <p:cNvPr id="13" name="Text 8"/>
          <p:cNvSpPr txBox="1"/>
          <p:nvPr/>
        </p:nvSpPr>
        <p:spPr>
          <a:xfrm>
            <a:off x="8705088" y="3959352"/>
            <a:ext cx="5669280" cy="640080"/>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SEED → TRAVERSE → RANK → REASON, with live counts.</a:t>
            </a:r>
            <a:endParaRPr lang="en-US" sz="1600" dirty="0"/>
          </a:p>
        </p:txBody>
      </p:sp>
      <p:sp>
        <p:nvSpPr>
          <p:cNvPr id="14" name="Shape 9"/>
          <p:cNvSpPr/>
          <p:nvPr/>
        </p:nvSpPr>
        <p:spPr>
          <a:xfrm>
            <a:off x="8275320" y="4800600"/>
            <a:ext cx="274320" cy="274320"/>
          </a:xfrm>
          <a:prstGeom prst="ellipse">
            <a:avLst/>
          </a:prstGeom>
          <a:solidFill>
            <a:srgbClr val="47D7AC"/>
          </a:solidFill>
          <a:ln/>
        </p:spPr>
      </p:sp>
      <p:sp>
        <p:nvSpPr>
          <p:cNvPr id="15" name="Text 10"/>
          <p:cNvSpPr txBox="1"/>
          <p:nvPr/>
        </p:nvSpPr>
        <p:spPr>
          <a:xfrm>
            <a:off x="8705088" y="4745736"/>
            <a:ext cx="5669280" cy="384048"/>
          </a:xfrm>
          <a:prstGeom prst="rect">
            <a:avLst/>
          </a:prstGeom>
          <a:noFill/>
          <a:ln/>
        </p:spPr>
        <p:txBody>
          <a:bodyPr wrap="square" lIns="0" tIns="0" rIns="0" bIns="0" rtlCol="0" anchor="t"/>
          <a:lstStyle/>
          <a:p>
            <a:pPr indent="0" marL="0">
              <a:buNone/>
            </a:pPr>
            <a:r>
              <a:rPr lang="en-US" sz="2000" dirty="0">
                <a:solidFill>
                  <a:srgbClr val="FFFFFF"/>
                </a:solidFill>
                <a:latin typeface="Equip Extended Medium" pitchFamily="34" charset="0"/>
                <a:ea typeface="Equip Extended Medium" pitchFamily="34" charset="-122"/>
                <a:cs typeface="Equip Extended Medium" pitchFamily="34" charset="-120"/>
              </a:rPr>
              <a:t>Watch the decoy lose</a:t>
            </a:r>
            <a:endParaRPr lang="en-US" sz="2000" dirty="0"/>
          </a:p>
        </p:txBody>
      </p:sp>
      <p:sp>
        <p:nvSpPr>
          <p:cNvPr id="16" name="Text 11"/>
          <p:cNvSpPr txBox="1"/>
          <p:nvPr/>
        </p:nvSpPr>
        <p:spPr>
          <a:xfrm>
            <a:off x="8705088" y="5166360"/>
            <a:ext cx="5669280" cy="640080"/>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Two recent deploys. Only one has a corroborated chain.</a:t>
            </a:r>
            <a:endParaRPr lang="en-US" sz="1600" dirty="0"/>
          </a:p>
        </p:txBody>
      </p:sp>
      <p:sp>
        <p:nvSpPr>
          <p:cNvPr id="17" name="Text 12"/>
          <p:cNvSpPr txBox="1"/>
          <p:nvPr/>
        </p:nvSpPr>
        <p:spPr>
          <a:xfrm>
            <a:off x="8275320" y="5989320"/>
            <a:ext cx="6035040" cy="411480"/>
          </a:xfrm>
          <a:prstGeom prst="rect">
            <a:avLst/>
          </a:prstGeom>
          <a:noFill/>
          <a:ln/>
        </p:spPr>
        <p:txBody>
          <a:bodyPr wrap="square" lIns="0" tIns="0" rIns="0" bIns="0" rtlCol="0" anchor="ctr"/>
          <a:lstStyle/>
          <a:p>
            <a:pPr indent="0" marL="0">
              <a:buNone/>
            </a:pPr>
            <a:r>
              <a:rPr lang="en-US" sz="1700" dirty="0">
                <a:solidFill>
                  <a:srgbClr val="47D7AC"/>
                </a:solidFill>
                <a:latin typeface="Equip" pitchFamily="34" charset="0"/>
                <a:ea typeface="Equip" pitchFamily="34" charset="-122"/>
                <a:cs typeface="Equip" pitchFamily="34" charset="-120"/>
              </a:rPr>
              <a:t>Console: http://localhost:8090</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UNDER THE HOOD</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Four stages, four signals</a:t>
            </a:r>
            <a:endParaRPr lang="en-US" sz="3800" dirty="0"/>
          </a:p>
        </p:txBody>
      </p:sp>
      <p:pic>
        <p:nvPicPr>
          <p:cNvPr id="6" name="Image 2" descr="preencoded.png">    </p:cNvPr>
          <p:cNvPicPr>
            <a:picLocks noChangeAspect="1"/>
          </p:cNvPicPr>
          <p:nvPr/>
        </p:nvPicPr>
        <p:blipFill>
          <a:blip r:embed="rId3"/>
          <a:stretch>
            <a:fillRect/>
          </a:stretch>
        </p:blipFill>
        <p:spPr>
          <a:xfrm>
            <a:off x="822960" y="2057400"/>
            <a:ext cx="12984480" cy="1773936"/>
          </a:xfrm>
          <a:prstGeom prst="rect">
            <a:avLst/>
          </a:prstGeom>
        </p:spPr>
      </p:pic>
      <p:sp>
        <p:nvSpPr>
          <p:cNvPr id="7" name="Text 2"/>
          <p:cNvSpPr txBox="1"/>
          <p:nvPr/>
        </p:nvSpPr>
        <p:spPr>
          <a:xfrm>
            <a:off x="822960" y="4069080"/>
            <a:ext cx="6217920" cy="384048"/>
          </a:xfrm>
          <a:prstGeom prst="rect">
            <a:avLst/>
          </a:prstGeom>
          <a:noFill/>
          <a:ln/>
        </p:spPr>
        <p:txBody>
          <a:bodyPr wrap="square" lIns="0" tIns="0" rIns="0" bIns="0" rtlCol="0" anchor="ctr"/>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How a candidate is scored</a:t>
            </a:r>
            <a:endParaRPr lang="en-US" sz="2100" dirty="0"/>
          </a:p>
        </p:txBody>
      </p:sp>
      <p:pic>
        <p:nvPicPr>
          <p:cNvPr id="8" name="Image 3" descr="preencoded.png">    </p:cNvPr>
          <p:cNvPicPr>
            <a:picLocks noChangeAspect="1"/>
          </p:cNvPicPr>
          <p:nvPr/>
        </p:nvPicPr>
        <p:blipFill>
          <a:blip r:embed="rId4"/>
          <a:stretch>
            <a:fillRect/>
          </a:stretch>
        </p:blipFill>
        <p:spPr>
          <a:xfrm>
            <a:off x="822960" y="4526280"/>
            <a:ext cx="6400800" cy="2331720"/>
          </a:xfrm>
          <a:prstGeom prst="rect">
            <a:avLst/>
          </a:prstGeom>
        </p:spPr>
      </p:pic>
      <p:sp>
        <p:nvSpPr>
          <p:cNvPr id="9" name="Text 3"/>
          <p:cNvSpPr txBox="1"/>
          <p:nvPr/>
        </p:nvSpPr>
        <p:spPr>
          <a:xfrm>
            <a:off x="7955280" y="4069080"/>
            <a:ext cx="5943600" cy="384048"/>
          </a:xfrm>
          <a:prstGeom prst="rect">
            <a:avLst/>
          </a:prstGeom>
          <a:noFill/>
          <a:ln/>
        </p:spPr>
        <p:txBody>
          <a:bodyPr wrap="square" lIns="0" tIns="0" rIns="0" bIns="0" rtlCol="0" anchor="ctr"/>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Why two signals, not one</a:t>
            </a:r>
            <a:endParaRPr lang="en-US" sz="2100" dirty="0"/>
          </a:p>
        </p:txBody>
      </p:sp>
      <p:sp>
        <p:nvSpPr>
          <p:cNvPr id="10" name="Text 4"/>
          <p:cNvSpPr txBox="1"/>
          <p:nvPr/>
        </p:nvSpPr>
        <p:spPr>
          <a:xfrm>
            <a:off x="7955280" y="4553712"/>
            <a:ext cx="6035040" cy="2194560"/>
          </a:xfrm>
          <a:prstGeom prst="rect">
            <a:avLst/>
          </a:prstGeom>
          <a:noFill/>
          <a:ln/>
        </p:spPr>
        <p:txBody>
          <a:bodyPr wrap="square" lIns="0" tIns="0" rIns="0" bIns="0" rtlCol="0" anchor="t"/>
          <a:lstStyle/>
          <a:p>
            <a:pPr indent="0" marL="0">
              <a:lnSpc>
                <a:spcPct val="135000"/>
              </a:lnSpc>
              <a:spcAft>
                <a:spcPts val="1000"/>
              </a:spcAft>
              <a:buNone/>
            </a:pPr>
            <a:r>
              <a:rPr lang="en-US" sz="1700" b="1" dirty="0">
                <a:solidFill>
                  <a:srgbClr val="7FB0FF"/>
                </a:solidFill>
                <a:latin typeface="Equip" pitchFamily="34" charset="0"/>
                <a:ea typeface="Equip" pitchFamily="34" charset="-122"/>
                <a:cs typeface="Equip" pitchFamily="34" charset="-120"/>
              </a:rPr>
              <a:t>blast</a:t>
            </a:r>
            <a:pPr indent="0" marL="0">
              <a:lnSpc>
                <a:spcPct val="135000"/>
              </a:lnSpc>
              <a:spcAft>
                <a:spcPts val="1000"/>
              </a:spcAft>
              <a:buNone/>
            </a:pPr>
            <a:r>
              <a:rPr lang="en-US" sz="1700" dirty="0">
                <a:solidFill>
                  <a:srgbClr val="C6C2F2"/>
                </a:solidFill>
                <a:latin typeface="Equip" pitchFamily="34" charset="0"/>
                <a:ea typeface="Equip" pitchFamily="34" charset="-122"/>
                <a:cs typeface="Equip" pitchFamily="34" charset="-120"/>
              </a:rPr>
              <a:t> is topology: could this explain every symptom?</a:t>
            </a:r>
            <a:endParaRPr lang="en-US" sz="1700" dirty="0"/>
          </a:p>
          <a:p>
            <a:pPr indent="0" marL="0">
              <a:lnSpc>
                <a:spcPct val="135000"/>
              </a:lnSpc>
              <a:spcAft>
                <a:spcPts val="1000"/>
              </a:spcAft>
              <a:buNone/>
            </a:pPr>
            <a:r>
              <a:rPr lang="en-US" sz="1700" b="1" dirty="0">
                <a:solidFill>
                  <a:srgbClr val="47D7AC"/>
                </a:solidFill>
                <a:latin typeface="Equip" pitchFamily="34" charset="0"/>
                <a:ea typeface="Equip" pitchFamily="34" charset="-122"/>
                <a:cs typeface="Equip" pitchFamily="34" charset="-120"/>
              </a:rPr>
              <a:t>mechanism</a:t>
            </a:r>
            <a:pPr indent="0" marL="0">
              <a:lnSpc>
                <a:spcPct val="135000"/>
              </a:lnSpc>
              <a:spcAft>
                <a:spcPts val="1000"/>
              </a:spcAft>
              <a:buNone/>
            </a:pPr>
            <a:r>
              <a:rPr lang="en-US" sz="1700" dirty="0">
                <a:solidFill>
                  <a:srgbClr val="C6C2F2"/>
                </a:solidFill>
                <a:latin typeface="Equip" pitchFamily="34" charset="0"/>
                <a:ea typeface="Equip" pitchFamily="34" charset="-122"/>
                <a:cs typeface="Equip" pitchFamily="34" charset="-120"/>
              </a:rPr>
              <a:t> is evidence: does every link in the chain actually look broken?</a:t>
            </a:r>
            <a:endParaRPr lang="en-US" sz="1700" dirty="0"/>
          </a:p>
          <a:p>
            <a:pPr indent="0" marL="0">
              <a:lnSpc>
                <a:spcPct val="135000"/>
              </a:lnSpc>
              <a:spcAft>
                <a:spcPts val="1000"/>
              </a:spcAft>
              <a:buNone/>
            </a:pPr>
            <a:r>
              <a:rPr lang="en-US" sz="1700" dirty="0">
                <a:solidFill>
                  <a:srgbClr val="C6C2F2"/>
                </a:solidFill>
                <a:latin typeface="Equip" pitchFamily="34" charset="0"/>
                <a:ea typeface="Equip" pitchFamily="34" charset="-122"/>
                <a:cs typeface="Equip" pitchFamily="34" charset="-120"/>
              </a:rPr>
              <a:t>A coincidental recent change scores 1.00 on the first and badly on the second. That is how the decoy deploy loses.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658368"/>
            <a:ext cx="9144000" cy="310896"/>
          </a:xfrm>
          <a:prstGeom prst="rect">
            <a:avLst/>
          </a:prstGeom>
          <a:noFill/>
          <a:ln/>
        </p:spPr>
        <p:txBody>
          <a:bodyPr wrap="square" lIns="0" tIns="0" rIns="0" bIns="0" rtlCol="0" anchor="ctr"/>
          <a:lstStyle/>
          <a:p>
            <a:pPr indent="0" marL="0">
              <a:buNone/>
            </a:pPr>
            <a:r>
              <a:rPr lang="en-US" sz="1500" spc="140" kern="0" dirty="0">
                <a:solidFill>
                  <a:srgbClr val="FFFFFF">
                    <a:alpha val="75000"/>
                  </a:srgbClr>
                </a:solidFill>
                <a:latin typeface="Equip" pitchFamily="34" charset="0"/>
                <a:ea typeface="Equip" pitchFamily="34" charset="-122"/>
                <a:cs typeface="Equip" pitchFamily="34" charset="-120"/>
              </a:rPr>
              <a:t>WHERE THIS STANDS</a:t>
            </a:r>
            <a:endParaRPr lang="en-US" sz="1500" dirty="0"/>
          </a:p>
        </p:txBody>
      </p:sp>
      <p:sp>
        <p:nvSpPr>
          <p:cNvPr id="5" name="Text 1"/>
          <p:cNvSpPr txBox="1"/>
          <p:nvPr/>
        </p:nvSpPr>
        <p:spPr>
          <a:xfrm>
            <a:off x="795528" y="1024128"/>
            <a:ext cx="12984480" cy="822960"/>
          </a:xfrm>
          <a:prstGeom prst="rect">
            <a:avLst/>
          </a:prstGeom>
          <a:noFill/>
          <a:ln/>
        </p:spPr>
        <p:txBody>
          <a:bodyPr wrap="square" lIns="0" tIns="0" rIns="0" bIns="0" rtlCol="0" anchor="ctr"/>
          <a:lstStyle/>
          <a:p>
            <a:pPr indent="0" marL="0">
              <a:buNone/>
            </a:pPr>
            <a:r>
              <a:rPr lang="en-US" sz="3800" dirty="0">
                <a:solidFill>
                  <a:srgbClr val="47D7AC"/>
                </a:solidFill>
                <a:latin typeface="Equip Extended Medium" pitchFamily="34" charset="0"/>
                <a:ea typeface="Equip Extended Medium" pitchFamily="34" charset="-122"/>
                <a:cs typeface="Equip Extended Medium" pitchFamily="34" charset="-120"/>
              </a:rPr>
              <a:t>Honest limits, and what's next</a:t>
            </a:r>
            <a:endParaRPr lang="en-US" sz="3800" dirty="0"/>
          </a:p>
        </p:txBody>
      </p:sp>
      <p:sp>
        <p:nvSpPr>
          <p:cNvPr id="6" name="Shape 2"/>
          <p:cNvSpPr/>
          <p:nvPr/>
        </p:nvSpPr>
        <p:spPr>
          <a:xfrm>
            <a:off x="822960" y="2212848"/>
            <a:ext cx="292608" cy="292608"/>
          </a:xfrm>
          <a:prstGeom prst="ellipse">
            <a:avLst/>
          </a:prstGeom>
          <a:solidFill>
            <a:srgbClr val="47D7AC"/>
          </a:solidFill>
          <a:ln/>
        </p:spPr>
      </p:sp>
      <p:sp>
        <p:nvSpPr>
          <p:cNvPr id="7" name="Text 3"/>
          <p:cNvSpPr txBox="1"/>
          <p:nvPr/>
        </p:nvSpPr>
        <p:spPr>
          <a:xfrm>
            <a:off x="1261872" y="2157984"/>
            <a:ext cx="3931920" cy="411480"/>
          </a:xfrm>
          <a:prstGeom prst="rect">
            <a:avLst/>
          </a:prstGeom>
          <a:noFill/>
          <a:ln/>
        </p:spPr>
        <p:txBody>
          <a:bodyPr wrap="square" lIns="0" tIns="0" rIns="0" bIns="0" rtlCol="0" anchor="ctr"/>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What it does</a:t>
            </a:r>
            <a:endParaRPr lang="en-US" sz="2100" dirty="0"/>
          </a:p>
        </p:txBody>
      </p:sp>
      <p:sp>
        <p:nvSpPr>
          <p:cNvPr id="8" name="Shape 4"/>
          <p:cNvSpPr/>
          <p:nvPr/>
        </p:nvSpPr>
        <p:spPr>
          <a:xfrm>
            <a:off x="868680" y="2916936"/>
            <a:ext cx="100584" cy="100584"/>
          </a:xfrm>
          <a:prstGeom prst="ellipse">
            <a:avLst/>
          </a:prstGeom>
          <a:solidFill>
            <a:srgbClr val="47D7AC"/>
          </a:solidFill>
          <a:ln/>
        </p:spPr>
      </p:sp>
      <p:sp>
        <p:nvSpPr>
          <p:cNvPr id="9" name="Text 5"/>
          <p:cNvSpPr txBox="1"/>
          <p:nvPr/>
        </p:nvSpPr>
        <p:spPr>
          <a:xfrm>
            <a:off x="1170432" y="2834640"/>
            <a:ext cx="3931920" cy="71323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Finds causes that are in the graph</a:t>
            </a:r>
            <a:endParaRPr lang="en-US" sz="1600" dirty="0"/>
          </a:p>
        </p:txBody>
      </p:sp>
      <p:sp>
        <p:nvSpPr>
          <p:cNvPr id="10" name="Shape 6"/>
          <p:cNvSpPr/>
          <p:nvPr/>
        </p:nvSpPr>
        <p:spPr>
          <a:xfrm>
            <a:off x="868680" y="3703320"/>
            <a:ext cx="100584" cy="100584"/>
          </a:xfrm>
          <a:prstGeom prst="ellipse">
            <a:avLst/>
          </a:prstGeom>
          <a:solidFill>
            <a:srgbClr val="47D7AC"/>
          </a:solidFill>
          <a:ln/>
        </p:spPr>
      </p:sp>
      <p:sp>
        <p:nvSpPr>
          <p:cNvPr id="11" name="Text 7"/>
          <p:cNvSpPr txBox="1"/>
          <p:nvPr/>
        </p:nvSpPr>
        <p:spPr>
          <a:xfrm>
            <a:off x="1170432" y="3621024"/>
            <a:ext cx="3931920" cy="71323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Cites evidence for every claim</a:t>
            </a:r>
            <a:endParaRPr lang="en-US" sz="1600" dirty="0"/>
          </a:p>
        </p:txBody>
      </p:sp>
      <p:sp>
        <p:nvSpPr>
          <p:cNvPr id="12" name="Shape 8"/>
          <p:cNvSpPr/>
          <p:nvPr/>
        </p:nvSpPr>
        <p:spPr>
          <a:xfrm>
            <a:off x="868680" y="4489704"/>
            <a:ext cx="100584" cy="100584"/>
          </a:xfrm>
          <a:prstGeom prst="ellipse">
            <a:avLst/>
          </a:prstGeom>
          <a:solidFill>
            <a:srgbClr val="47D7AC"/>
          </a:solidFill>
          <a:ln/>
        </p:spPr>
      </p:sp>
      <p:sp>
        <p:nvSpPr>
          <p:cNvPr id="13" name="Text 9"/>
          <p:cNvSpPr txBox="1"/>
          <p:nvPr/>
        </p:nvSpPr>
        <p:spPr>
          <a:xfrm>
            <a:off x="1170432" y="4407408"/>
            <a:ext cx="3931920" cy="71323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Ranks alternatives visibly</a:t>
            </a:r>
            <a:endParaRPr lang="en-US" sz="1600" dirty="0"/>
          </a:p>
        </p:txBody>
      </p:sp>
      <p:sp>
        <p:nvSpPr>
          <p:cNvPr id="14" name="Shape 10"/>
          <p:cNvSpPr/>
          <p:nvPr/>
        </p:nvSpPr>
        <p:spPr>
          <a:xfrm>
            <a:off x="868680" y="5276088"/>
            <a:ext cx="100584" cy="100584"/>
          </a:xfrm>
          <a:prstGeom prst="ellipse">
            <a:avLst/>
          </a:prstGeom>
          <a:solidFill>
            <a:srgbClr val="47D7AC"/>
          </a:solidFill>
          <a:ln/>
        </p:spPr>
      </p:sp>
      <p:sp>
        <p:nvSpPr>
          <p:cNvPr id="15" name="Text 11"/>
          <p:cNvSpPr txBox="1"/>
          <p:nvPr/>
        </p:nvSpPr>
        <p:spPr>
          <a:xfrm>
            <a:off x="1170432" y="5193792"/>
            <a:ext cx="3931920" cy="71323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Costs ~$0.05 per incident analysed</a:t>
            </a:r>
            <a:endParaRPr lang="en-US" sz="1600" dirty="0"/>
          </a:p>
        </p:txBody>
      </p:sp>
      <p:sp>
        <p:nvSpPr>
          <p:cNvPr id="16" name="Shape 12"/>
          <p:cNvSpPr/>
          <p:nvPr/>
        </p:nvSpPr>
        <p:spPr>
          <a:xfrm>
            <a:off x="5394960" y="2212848"/>
            <a:ext cx="292608" cy="292608"/>
          </a:xfrm>
          <a:prstGeom prst="ellipse">
            <a:avLst/>
          </a:prstGeom>
          <a:solidFill>
            <a:srgbClr val="FF7A6B"/>
          </a:solidFill>
          <a:ln/>
        </p:spPr>
      </p:sp>
      <p:sp>
        <p:nvSpPr>
          <p:cNvPr id="17" name="Text 13"/>
          <p:cNvSpPr txBox="1"/>
          <p:nvPr/>
        </p:nvSpPr>
        <p:spPr>
          <a:xfrm>
            <a:off x="5833872" y="2157984"/>
            <a:ext cx="3931920" cy="411480"/>
          </a:xfrm>
          <a:prstGeom prst="rect">
            <a:avLst/>
          </a:prstGeom>
          <a:noFill/>
          <a:ln/>
        </p:spPr>
        <p:txBody>
          <a:bodyPr wrap="square" lIns="0" tIns="0" rIns="0" bIns="0" rtlCol="0" anchor="ctr"/>
          <a:lstStyle/>
          <a:p>
            <a:pPr indent="0" marL="0">
              <a:buNone/>
            </a:pPr>
            <a:r>
              <a:rPr lang="en-US" sz="2100" dirty="0">
                <a:solidFill>
                  <a:srgbClr val="FFFFFF"/>
                </a:solidFill>
                <a:latin typeface="Equip Extended Medium" pitchFamily="34" charset="0"/>
                <a:ea typeface="Equip Extended Medium" pitchFamily="34" charset="-122"/>
                <a:cs typeface="Equip Extended Medium" pitchFamily="34" charset="-120"/>
              </a:rPr>
              <a:t>What it does not</a:t>
            </a:r>
            <a:endParaRPr lang="en-US" sz="2100" dirty="0"/>
          </a:p>
        </p:txBody>
      </p:sp>
      <p:sp>
        <p:nvSpPr>
          <p:cNvPr id="18" name="Shape 14"/>
          <p:cNvSpPr/>
          <p:nvPr/>
        </p:nvSpPr>
        <p:spPr>
          <a:xfrm>
            <a:off x="5440680" y="2916936"/>
            <a:ext cx="100584" cy="100584"/>
          </a:xfrm>
          <a:prstGeom prst="ellipse">
            <a:avLst/>
          </a:prstGeom>
          <a:solidFill>
            <a:srgbClr val="FF7A6B"/>
          </a:solidFill>
          <a:ln/>
        </p:spPr>
      </p:sp>
      <p:sp>
        <p:nvSpPr>
          <p:cNvPr id="19" name="Text 15"/>
          <p:cNvSpPr txBox="1"/>
          <p:nvPr/>
        </p:nvSpPr>
        <p:spPr>
          <a:xfrm>
            <a:off x="5742432" y="2834640"/>
            <a:ext cx="3931920" cy="71323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Replace an engineer's judgement</a:t>
            </a:r>
            <a:endParaRPr lang="en-US" sz="1600" dirty="0"/>
          </a:p>
        </p:txBody>
      </p:sp>
      <p:sp>
        <p:nvSpPr>
          <p:cNvPr id="20" name="Shape 16"/>
          <p:cNvSpPr/>
          <p:nvPr/>
        </p:nvSpPr>
        <p:spPr>
          <a:xfrm>
            <a:off x="5440680" y="3703320"/>
            <a:ext cx="100584" cy="100584"/>
          </a:xfrm>
          <a:prstGeom prst="ellipse">
            <a:avLst/>
          </a:prstGeom>
          <a:solidFill>
            <a:srgbClr val="FF7A6B"/>
          </a:solidFill>
          <a:ln/>
        </p:spPr>
      </p:sp>
      <p:sp>
        <p:nvSpPr>
          <p:cNvPr id="21" name="Text 17"/>
          <p:cNvSpPr txBox="1"/>
          <p:nvPr/>
        </p:nvSpPr>
        <p:spPr>
          <a:xfrm>
            <a:off x="5742432" y="3621024"/>
            <a:ext cx="3931920" cy="71323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Find causes nobody modelled</a:t>
            </a:r>
            <a:endParaRPr lang="en-US" sz="1600" dirty="0"/>
          </a:p>
        </p:txBody>
      </p:sp>
      <p:sp>
        <p:nvSpPr>
          <p:cNvPr id="22" name="Shape 18"/>
          <p:cNvSpPr/>
          <p:nvPr/>
        </p:nvSpPr>
        <p:spPr>
          <a:xfrm>
            <a:off x="5440680" y="4489704"/>
            <a:ext cx="100584" cy="100584"/>
          </a:xfrm>
          <a:prstGeom prst="ellipse">
            <a:avLst/>
          </a:prstGeom>
          <a:solidFill>
            <a:srgbClr val="FF7A6B"/>
          </a:solidFill>
          <a:ln/>
        </p:spPr>
      </p:sp>
      <p:sp>
        <p:nvSpPr>
          <p:cNvPr id="23" name="Text 19"/>
          <p:cNvSpPr txBox="1"/>
          <p:nvPr/>
        </p:nvSpPr>
        <p:spPr>
          <a:xfrm>
            <a:off x="5742432" y="4407408"/>
            <a:ext cx="3931920" cy="71323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Work without accurate topology</a:t>
            </a:r>
            <a:endParaRPr lang="en-US" sz="1600" dirty="0"/>
          </a:p>
        </p:txBody>
      </p:sp>
      <p:sp>
        <p:nvSpPr>
          <p:cNvPr id="24" name="Shape 20"/>
          <p:cNvSpPr/>
          <p:nvPr/>
        </p:nvSpPr>
        <p:spPr>
          <a:xfrm>
            <a:off x="5440680" y="5276088"/>
            <a:ext cx="100584" cy="100584"/>
          </a:xfrm>
          <a:prstGeom prst="ellipse">
            <a:avLst/>
          </a:prstGeom>
          <a:solidFill>
            <a:srgbClr val="FF7A6B"/>
          </a:solidFill>
          <a:ln/>
        </p:spPr>
      </p:sp>
      <p:sp>
        <p:nvSpPr>
          <p:cNvPr id="25" name="Text 21"/>
          <p:cNvSpPr txBox="1"/>
          <p:nvPr/>
        </p:nvSpPr>
        <p:spPr>
          <a:xfrm>
            <a:off x="5742432" y="5193792"/>
            <a:ext cx="3931920" cy="713232"/>
          </a:xfrm>
          <a:prstGeom prst="rect">
            <a:avLst/>
          </a:prstGeom>
          <a:noFill/>
          <a:ln/>
        </p:spPr>
        <p:txBody>
          <a:bodyPr wrap="square" lIns="0" tIns="0" rIns="0" bIns="0" rtlCol="0" anchor="t"/>
          <a:lstStyle/>
          <a:p>
            <a:pPr indent="0" marL="0">
              <a:buNone/>
            </a:pPr>
            <a:r>
              <a:rPr lang="en-US" sz="1600" dirty="0">
                <a:solidFill>
                  <a:srgbClr val="C6C2F2"/>
                </a:solidFill>
                <a:latin typeface="Equip" pitchFamily="34" charset="0"/>
                <a:ea typeface="Equip" pitchFamily="34" charset="-122"/>
                <a:cs typeface="Equip" pitchFamily="34" charset="-120"/>
              </a:rPr>
              <a:t>Survive a wrong graph</a:t>
            </a:r>
            <a:endParaRPr lang="en-US" sz="1600" dirty="0"/>
          </a:p>
        </p:txBody>
      </p:sp>
      <p:sp>
        <p:nvSpPr>
          <p:cNvPr id="26" name="Shape 22"/>
          <p:cNvSpPr/>
          <p:nvPr/>
        </p:nvSpPr>
        <p:spPr>
          <a:xfrm>
            <a:off x="10195560" y="2103120"/>
            <a:ext cx="4114800" cy="4023360"/>
          </a:xfrm>
          <a:prstGeom prst="roundRect">
            <a:avLst>
              <a:gd name="adj" fmla="val 2727"/>
            </a:avLst>
          </a:prstGeom>
          <a:solidFill>
            <a:srgbClr val="06041F">
              <a:alpha val="55000"/>
            </a:srgbClr>
          </a:solidFill>
          <a:ln w="25400">
            <a:solidFill>
              <a:srgbClr val="47D7AC"/>
            </a:solidFill>
            <a:prstDash val="solid"/>
          </a:ln>
        </p:spPr>
      </p:sp>
      <p:sp>
        <p:nvSpPr>
          <p:cNvPr id="27" name="Text 23"/>
          <p:cNvSpPr txBox="1"/>
          <p:nvPr/>
        </p:nvSpPr>
        <p:spPr>
          <a:xfrm>
            <a:off x="10533888" y="2331720"/>
            <a:ext cx="3474720" cy="384048"/>
          </a:xfrm>
          <a:prstGeom prst="rect">
            <a:avLst/>
          </a:prstGeom>
          <a:noFill/>
          <a:ln/>
        </p:spPr>
        <p:txBody>
          <a:bodyPr wrap="square" lIns="0" tIns="0" rIns="0" bIns="0" rtlCol="0" anchor="ctr"/>
          <a:lstStyle/>
          <a:p>
            <a:pPr indent="0" marL="0">
              <a:buNone/>
            </a:pPr>
            <a:r>
              <a:rPr lang="en-US" sz="2100" dirty="0">
                <a:solidFill>
                  <a:srgbClr val="47D7AC"/>
                </a:solidFill>
                <a:latin typeface="Equip Extended Medium" pitchFamily="34" charset="0"/>
                <a:ea typeface="Equip Extended Medium" pitchFamily="34" charset="-122"/>
                <a:cs typeface="Equip Extended Medium" pitchFamily="34" charset="-120"/>
              </a:rPr>
              <a:t>Next</a:t>
            </a:r>
            <a:endParaRPr lang="en-US" sz="2100" dirty="0"/>
          </a:p>
        </p:txBody>
      </p:sp>
      <p:sp>
        <p:nvSpPr>
          <p:cNvPr id="28" name="Text 24"/>
          <p:cNvSpPr txBox="1"/>
          <p:nvPr/>
        </p:nvSpPr>
        <p:spPr>
          <a:xfrm>
            <a:off x="10533888" y="292608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Equip" pitchFamily="34" charset="0"/>
                <a:ea typeface="Equip" pitchFamily="34" charset="-122"/>
                <a:cs typeface="Equip" pitchFamily="34" charset="-120"/>
              </a:rPr>
              <a:t>1. Noisy-neighbour scenario</a:t>
            </a:r>
            <a:endParaRPr lang="en-US" sz="1700" dirty="0"/>
          </a:p>
        </p:txBody>
      </p:sp>
      <p:sp>
        <p:nvSpPr>
          <p:cNvPr id="29" name="Text 25"/>
          <p:cNvSpPr txBox="1"/>
          <p:nvPr/>
        </p:nvSpPr>
        <p:spPr>
          <a:xfrm>
            <a:off x="10533888" y="3310128"/>
            <a:ext cx="3474720" cy="566928"/>
          </a:xfrm>
          <a:prstGeom prst="rect">
            <a:avLst/>
          </a:prstGeom>
          <a:noFill/>
          <a:ln/>
        </p:spPr>
        <p:txBody>
          <a:bodyPr wrap="square" lIns="0" tIns="0" rIns="0" bIns="0" rtlCol="0" anchor="t"/>
          <a:lstStyle/>
          <a:p>
            <a:pPr indent="0" marL="0">
              <a:buNone/>
            </a:pPr>
            <a:r>
              <a:rPr lang="en-US" sz="1400" dirty="0">
                <a:solidFill>
                  <a:srgbClr val="C6C2F2"/>
                </a:solidFill>
                <a:latin typeface="Equip" pitchFamily="34" charset="0"/>
                <a:ea typeface="Equip" pitchFamily="34" charset="-122"/>
                <a:cs typeface="Equip" pitchFamily="34" charset="-120"/>
              </a:rPr>
              <a:t>where the logs contain literally nothing</a:t>
            </a:r>
            <a:endParaRPr lang="en-US" sz="1400" dirty="0"/>
          </a:p>
        </p:txBody>
      </p:sp>
      <p:sp>
        <p:nvSpPr>
          <p:cNvPr id="30" name="Text 26"/>
          <p:cNvSpPr txBox="1"/>
          <p:nvPr/>
        </p:nvSpPr>
        <p:spPr>
          <a:xfrm>
            <a:off x="10533888" y="3950208"/>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Equip" pitchFamily="34" charset="0"/>
                <a:ea typeface="Equip" pitchFamily="34" charset="-122"/>
                <a:cs typeface="Equip" pitchFamily="34" charset="-120"/>
              </a:rPr>
              <a:t>2. Real graph sources</a:t>
            </a:r>
            <a:endParaRPr lang="en-US" sz="1700" dirty="0"/>
          </a:p>
        </p:txBody>
      </p:sp>
      <p:sp>
        <p:nvSpPr>
          <p:cNvPr id="31" name="Text 27"/>
          <p:cNvSpPr txBox="1"/>
          <p:nvPr/>
        </p:nvSpPr>
        <p:spPr>
          <a:xfrm>
            <a:off x="10533888" y="4334256"/>
            <a:ext cx="3474720" cy="566928"/>
          </a:xfrm>
          <a:prstGeom prst="rect">
            <a:avLst/>
          </a:prstGeom>
          <a:noFill/>
          <a:ln/>
        </p:spPr>
        <p:txBody>
          <a:bodyPr wrap="square" lIns="0" tIns="0" rIns="0" bIns="0" rtlCol="0" anchor="t"/>
          <a:lstStyle/>
          <a:p>
            <a:pPr indent="0" marL="0">
              <a:buNone/>
            </a:pPr>
            <a:r>
              <a:rPr lang="en-US" sz="1400" dirty="0">
                <a:solidFill>
                  <a:srgbClr val="C6C2F2"/>
                </a:solidFill>
                <a:latin typeface="Equip" pitchFamily="34" charset="0"/>
                <a:ea typeface="Equip" pitchFamily="34" charset="-122"/>
                <a:cs typeface="Equip" pitchFamily="34" charset="-120"/>
              </a:rPr>
              <a:t>Helm, Terraform, the K8s API — not a checked-in file</a:t>
            </a:r>
            <a:endParaRPr lang="en-US" sz="1400" dirty="0"/>
          </a:p>
        </p:txBody>
      </p:sp>
      <p:sp>
        <p:nvSpPr>
          <p:cNvPr id="32" name="Text 28"/>
          <p:cNvSpPr txBox="1"/>
          <p:nvPr/>
        </p:nvSpPr>
        <p:spPr>
          <a:xfrm>
            <a:off x="10533888" y="4974336"/>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Equip" pitchFamily="34" charset="0"/>
                <a:ea typeface="Equip" pitchFamily="34" charset="-122"/>
                <a:cs typeface="Equip" pitchFamily="34" charset="-120"/>
              </a:rPr>
              <a:t>3. Measure it</a:t>
            </a:r>
            <a:endParaRPr lang="en-US" sz="1700" dirty="0"/>
          </a:p>
        </p:txBody>
      </p:sp>
      <p:sp>
        <p:nvSpPr>
          <p:cNvPr id="33" name="Text 29"/>
          <p:cNvSpPr txBox="1"/>
          <p:nvPr/>
        </p:nvSpPr>
        <p:spPr>
          <a:xfrm>
            <a:off x="10533888" y="5358384"/>
            <a:ext cx="3474720" cy="566928"/>
          </a:xfrm>
          <a:prstGeom prst="rect">
            <a:avLst/>
          </a:prstGeom>
          <a:noFill/>
          <a:ln/>
        </p:spPr>
        <p:txBody>
          <a:bodyPr wrap="square" lIns="0" tIns="0" rIns="0" bIns="0" rtlCol="0" anchor="t"/>
          <a:lstStyle/>
          <a:p>
            <a:pPr indent="0" marL="0">
              <a:buNone/>
            </a:pPr>
            <a:r>
              <a:rPr lang="en-US" sz="1400" dirty="0">
                <a:solidFill>
                  <a:srgbClr val="C6C2F2"/>
                </a:solidFill>
                <a:latin typeface="Equip" pitchFamily="34" charset="0"/>
                <a:ea typeface="Equip" pitchFamily="34" charset="-122"/>
                <a:cs typeface="Equip" pitchFamily="34" charset="-120"/>
              </a:rPr>
              <a:t>top-1 accuracy over real incident history</a:t>
            </a:r>
            <a:endParaRPr lang="en-US" sz="1400" dirty="0"/>
          </a:p>
        </p:txBody>
      </p:sp>
      <p:sp>
        <p:nvSpPr>
          <p:cNvPr id="34" name="Text 30"/>
          <p:cNvSpPr txBox="1"/>
          <p:nvPr/>
        </p:nvSpPr>
        <p:spPr>
          <a:xfrm>
            <a:off x="822960" y="6492240"/>
            <a:ext cx="9144000" cy="457200"/>
          </a:xfrm>
          <a:prstGeom prst="rect">
            <a:avLst/>
          </a:prstGeom>
          <a:noFill/>
          <a:ln/>
        </p:spPr>
        <p:txBody>
          <a:bodyPr wrap="square" lIns="0" tIns="0" rIns="0" bIns="0" rtlCol="0" anchor="ctr"/>
          <a:lstStyle/>
          <a:p>
            <a:pPr indent="0" marL="0">
              <a:buNone/>
            </a:pPr>
            <a:r>
              <a:rPr lang="en-US" sz="1900" i="1" dirty="0">
                <a:solidFill>
                  <a:srgbClr val="47D7AC"/>
                </a:solidFill>
                <a:latin typeface="Equip" pitchFamily="34" charset="0"/>
                <a:ea typeface="Equip" pitchFamily="34" charset="-122"/>
                <a:cs typeface="Equip" pitchFamily="34" charset="-120"/>
              </a:rPr>
              <a:t>You already pay to collect this telemetry. Connect it to what you changed.</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5238476" cy="7973568"/>
          </a:xfrm>
          <a:prstGeom prst="rect">
            <a:avLst/>
          </a:prstGeom>
        </p:spPr>
      </p:pic>
      <p:pic>
        <p:nvPicPr>
          <p:cNvPr id="3" name="Image 1" descr="preencoded.png">    </p:cNvPr>
          <p:cNvPicPr>
            <a:picLocks noChangeAspect="1"/>
          </p:cNvPicPr>
          <p:nvPr/>
        </p:nvPicPr>
        <p:blipFill>
          <a:blip r:embed="rId2"/>
          <a:stretch>
            <a:fillRect/>
          </a:stretch>
        </p:blipFill>
        <p:spPr>
          <a:xfrm>
            <a:off x="13889736" y="301752"/>
            <a:ext cx="905256" cy="905256"/>
          </a:xfrm>
          <a:prstGeom prst="rect">
            <a:avLst/>
          </a:prstGeom>
        </p:spPr>
      </p:pic>
      <p:sp>
        <p:nvSpPr>
          <p:cNvPr id="4" name="Text 0"/>
          <p:cNvSpPr txBox="1"/>
          <p:nvPr/>
        </p:nvSpPr>
        <p:spPr>
          <a:xfrm>
            <a:off x="822960" y="2752344"/>
            <a:ext cx="11420856" cy="1234440"/>
          </a:xfrm>
          <a:prstGeom prst="rect">
            <a:avLst/>
          </a:prstGeom>
          <a:noFill/>
          <a:ln/>
        </p:spPr>
        <p:txBody>
          <a:bodyPr wrap="square" lIns="0" tIns="0" rIns="0" bIns="0" rtlCol="0" anchor="ctr"/>
          <a:lstStyle/>
          <a:p>
            <a:pPr indent="0" marL="0">
              <a:buNone/>
            </a:pPr>
            <a:r>
              <a:rPr lang="en-US" sz="5200" dirty="0">
                <a:solidFill>
                  <a:srgbClr val="FFFFFF"/>
                </a:solidFill>
                <a:latin typeface="Equip Extended Medium" pitchFamily="34" charset="0"/>
                <a:ea typeface="Equip Extended Medium" pitchFamily="34" charset="-122"/>
                <a:cs typeface="Equip Extended Medium" pitchFamily="34" charset="-120"/>
              </a:rPr>
              <a:t>Thank you</a:t>
            </a:r>
            <a:endParaRPr lang="en-US" sz="5200" dirty="0"/>
          </a:p>
        </p:txBody>
      </p:sp>
      <p:sp>
        <p:nvSpPr>
          <p:cNvPr id="5" name="Text 1"/>
          <p:cNvSpPr txBox="1"/>
          <p:nvPr/>
        </p:nvSpPr>
        <p:spPr>
          <a:xfrm>
            <a:off x="850392" y="4041648"/>
            <a:ext cx="10972800" cy="548640"/>
          </a:xfrm>
          <a:prstGeom prst="rect">
            <a:avLst/>
          </a:prstGeom>
          <a:noFill/>
          <a:ln/>
        </p:spPr>
        <p:txBody>
          <a:bodyPr wrap="square" lIns="0" tIns="0" rIns="0" bIns="0" rtlCol="0" anchor="ctr"/>
          <a:lstStyle/>
          <a:p>
            <a:pPr indent="0" marL="0">
              <a:buNone/>
            </a:pPr>
            <a:r>
              <a:rPr lang="en-US" sz="2400" dirty="0">
                <a:solidFill>
                  <a:srgbClr val="47D7AC"/>
                </a:solidFill>
                <a:latin typeface="Equip" pitchFamily="34" charset="0"/>
                <a:ea typeface="Equip" pitchFamily="34" charset="-122"/>
                <a:cs typeface="Equip" pitchFamily="34" charset="-120"/>
              </a:rPr>
              <a:t>Questions?</a:t>
            </a:r>
            <a:endParaRPr lang="en-US" sz="2400" dirty="0"/>
          </a:p>
        </p:txBody>
      </p:sp>
      <p:sp>
        <p:nvSpPr>
          <p:cNvPr id="6" name="Text 2"/>
          <p:cNvSpPr txBox="1"/>
          <p:nvPr/>
        </p:nvSpPr>
        <p:spPr>
          <a:xfrm>
            <a:off x="886968" y="5806440"/>
            <a:ext cx="8595360" cy="457200"/>
          </a:xfrm>
          <a:prstGeom prst="rect">
            <a:avLst/>
          </a:prstGeom>
          <a:noFill/>
          <a:ln/>
        </p:spPr>
        <p:txBody>
          <a:bodyPr wrap="square" lIns="0" tIns="0" rIns="0" bIns="0" rtlCol="0" anchor="ctr"/>
          <a:lstStyle/>
          <a:p>
            <a:pPr indent="0" marL="0">
              <a:buNone/>
            </a:pPr>
            <a:r>
              <a:rPr lang="en-US" sz="1700" dirty="0">
                <a:solidFill>
                  <a:srgbClr val="FFFFFF"/>
                </a:solidFill>
                <a:latin typeface="Equip" pitchFamily="34" charset="0"/>
                <a:ea typeface="Equip" pitchFamily="34" charset="-122"/>
                <a:cs typeface="Equip" pitchFamily="34" charset="-120"/>
              </a:rPr>
              <a:t>Flat log retrieval finds the loudest error. A knowledge graph finds the cause.</a:t>
            </a:r>
            <a:endParaRPr lang="en-US" sz="1700" dirty="0"/>
          </a:p>
        </p:txBody>
      </p:sp>
      <p:sp>
        <p:nvSpPr>
          <p:cNvPr id="7" name="Text 3"/>
          <p:cNvSpPr txBox="1"/>
          <p:nvPr/>
        </p:nvSpPr>
        <p:spPr>
          <a:xfrm>
            <a:off x="9765792" y="7022592"/>
            <a:ext cx="5038344" cy="402336"/>
          </a:xfrm>
          <a:prstGeom prst="rect">
            <a:avLst/>
          </a:prstGeom>
          <a:noFill/>
          <a:ln/>
        </p:spPr>
        <p:txBody>
          <a:bodyPr wrap="square" lIns="0" tIns="0" rIns="0" bIns="0" rtlCol="0" anchor="ctr"/>
          <a:lstStyle/>
          <a:p>
            <a:pPr algn="r" indent="0" marL="0">
              <a:buNone/>
            </a:pPr>
            <a:r>
              <a:rPr lang="en-US" sz="1600" dirty="0">
                <a:solidFill>
                  <a:srgbClr val="FFFFFF"/>
                </a:solidFill>
                <a:latin typeface="Equip Extended Medium" pitchFamily="34" charset="0"/>
                <a:ea typeface="Equip Extended Medium" pitchFamily="34" charset="-122"/>
                <a:cs typeface="Equip Extended Medium" pitchFamily="34" charset="-120"/>
              </a:rPr>
              <a:t>Flo beyond the waves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Next-Gen Root Cause Analysis</dc:title>
  <dc:subject>PptxGenJS Presentation</dc:subject>
  <dc:creator>Nagarro</dc:creator>
  <cp:lastModifiedBy>Nagarro</cp:lastModifiedBy>
  <cp:revision>1</cp:revision>
  <dcterms:created xsi:type="dcterms:W3CDTF">2026-09-15T19:42:49Z</dcterms:created>
  <dcterms:modified xsi:type="dcterms:W3CDTF">2026-09-15T19:42:49Z</dcterms:modified>
</cp:coreProperties>
</file>